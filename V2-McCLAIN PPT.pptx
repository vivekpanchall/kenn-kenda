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ebas Neue" panose="020B0606020202050201" pitchFamily="34" charset="77"/>
      <p:regular r:id="rId17"/>
    </p:embeddedFont>
    <p:embeddedFont>
      <p:font typeface="Bebas Neue Bold" panose="020B0606020202050201"/>
      <p:regular r:id="rId18"/>
      <p:bold r:id="rId19"/>
    </p:embeddedFont>
    <p:embeddedFont>
      <p:font typeface="Bernard MT Condensed" panose="02050806060905020404" pitchFamily="18" charset="77"/>
      <p:regular r:id="rId20"/>
    </p:embeddedFont>
    <p:embeddedFont>
      <p:font typeface="Canva Sans" panose="020B0503030501040103"/>
      <p:regular r:id="rId21"/>
    </p:embeddedFont>
    <p:embeddedFont>
      <p:font typeface="Canva Sans Bold" panose="020B0803030501040103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560" autoAdjust="0"/>
  </p:normalViewPr>
  <p:slideViewPr>
    <p:cSldViewPr>
      <p:cViewPr varScale="1">
        <p:scale>
          <a:sx n="73" d="100"/>
          <a:sy n="73" d="100"/>
        </p:scale>
        <p:origin x="6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9B32C-3515-F64C-ABD1-C6DACBB78D11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1D8AC-3C99-DE45-998D-256FD5242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6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1D8AC-3C99-DE45-998D-256FD52427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1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sv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8281" y="1155414"/>
            <a:ext cx="6879719" cy="9131586"/>
          </a:xfrm>
          <a:custGeom>
            <a:avLst/>
            <a:gdLst/>
            <a:ahLst/>
            <a:cxnLst/>
            <a:rect l="l" t="t" r="r" b="b"/>
            <a:pathLst>
              <a:path w="6879719" h="9131586">
                <a:moveTo>
                  <a:pt x="0" y="0"/>
                </a:moveTo>
                <a:lnTo>
                  <a:pt x="6879719" y="0"/>
                </a:lnTo>
                <a:lnTo>
                  <a:pt x="6879719" y="9131586"/>
                </a:lnTo>
                <a:lnTo>
                  <a:pt x="0" y="913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847858" cy="10287000"/>
          </a:xfrm>
          <a:custGeom>
            <a:avLst/>
            <a:gdLst/>
            <a:ahLst/>
            <a:cxnLst/>
            <a:rect l="l" t="t" r="r" b="b"/>
            <a:pathLst>
              <a:path w="14399084" h="11093294">
                <a:moveTo>
                  <a:pt x="0" y="0"/>
                </a:moveTo>
                <a:lnTo>
                  <a:pt x="14399083" y="0"/>
                </a:lnTo>
                <a:lnTo>
                  <a:pt x="14399083" y="11093294"/>
                </a:lnTo>
                <a:lnTo>
                  <a:pt x="0" y="11093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980" t="-5216" r="-1" b="-26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0800000">
            <a:off x="13662272" y="8688604"/>
            <a:ext cx="4625728" cy="2293578"/>
          </a:xfrm>
          <a:custGeom>
            <a:avLst/>
            <a:gdLst/>
            <a:ahLst/>
            <a:cxnLst/>
            <a:rect l="l" t="t" r="r" b="b"/>
            <a:pathLst>
              <a:path w="892421" h="444500">
                <a:moveTo>
                  <a:pt x="860241" y="0"/>
                </a:moveTo>
                <a:lnTo>
                  <a:pt x="32181" y="0"/>
                </a:lnTo>
                <a:cubicBezTo>
                  <a:pt x="14408" y="0"/>
                  <a:pt x="0" y="14408"/>
                  <a:pt x="0" y="32181"/>
                </a:cubicBezTo>
                <a:lnTo>
                  <a:pt x="0" y="398743"/>
                </a:lnTo>
                <a:cubicBezTo>
                  <a:pt x="47469" y="433272"/>
                  <a:pt x="199371" y="481613"/>
                  <a:pt x="427222" y="398743"/>
                </a:cubicBezTo>
                <a:cubicBezTo>
                  <a:pt x="655076" y="315872"/>
                  <a:pt x="832294" y="364213"/>
                  <a:pt x="892421" y="398743"/>
                </a:cubicBezTo>
                <a:lnTo>
                  <a:pt x="892421" y="32181"/>
                </a:lnTo>
                <a:cubicBezTo>
                  <a:pt x="892421" y="14408"/>
                  <a:pt x="878014" y="0"/>
                  <a:pt x="860241" y="0"/>
                </a:cubicBezTo>
                <a:close/>
              </a:path>
            </a:pathLst>
          </a:custGeom>
          <a:solidFill>
            <a:srgbClr val="D6AE5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 rot="10800000">
            <a:off x="13664595" y="9180085"/>
            <a:ext cx="4604810" cy="15072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046"/>
              </a:lnSpc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470490" y="451607"/>
            <a:ext cx="3212700" cy="3215379"/>
          </a:xfrm>
          <a:custGeom>
            <a:avLst/>
            <a:gdLst/>
            <a:ahLst/>
            <a:cxnLst/>
            <a:rect l="l" t="t" r="r" b="b"/>
            <a:pathLst>
              <a:path w="3212700" h="3215379">
                <a:moveTo>
                  <a:pt x="0" y="0"/>
                </a:moveTo>
                <a:lnTo>
                  <a:pt x="3212700" y="0"/>
                </a:lnTo>
                <a:lnTo>
                  <a:pt x="3212700" y="3215379"/>
                </a:lnTo>
                <a:lnTo>
                  <a:pt x="0" y="3215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25581" y="4007166"/>
            <a:ext cx="8528019" cy="2975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625"/>
              </a:lnSpc>
            </a:pPr>
            <a:r>
              <a:rPr lang="en-US" sz="12500" b="1" spc="-81" dirty="0">
                <a:solidFill>
                  <a:srgbClr val="D6AE5E"/>
                </a:solidFill>
                <a:latin typeface="Bebas Neue" panose="020B0606020202050201" pitchFamily="34" charset="77"/>
                <a:ea typeface="Canva Sans Bold"/>
                <a:cs typeface="Canva Sans Bold"/>
                <a:sym typeface="Canva Sans Bold"/>
              </a:rPr>
              <a:t>KENDA TOMES</a:t>
            </a:r>
            <a:endParaRPr lang="en-US" sz="12500" b="1" dirty="0">
              <a:solidFill>
                <a:srgbClr val="D6AE5E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  <a:p>
            <a:pPr algn="l">
              <a:lnSpc>
                <a:spcPts val="11625"/>
              </a:lnSpc>
            </a:pPr>
            <a:r>
              <a:rPr lang="en-US" sz="12500" b="1" dirty="0" err="1">
                <a:solidFill>
                  <a:srgbClr val="D6AE5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McCLAIN</a:t>
            </a:r>
            <a:endParaRPr lang="en-US" sz="12500" b="1" dirty="0">
              <a:solidFill>
                <a:srgbClr val="D6AE5E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25581" y="2798483"/>
            <a:ext cx="4175968" cy="126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9"/>
              </a:lnSpc>
            </a:pPr>
            <a:r>
              <a:rPr lang="en-US" sz="9999" b="1" dirty="0">
                <a:solidFill>
                  <a:srgbClr val="0075AC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ELECT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21FE97-3855-9730-3D02-0F50D3682A03}"/>
              </a:ext>
            </a:extLst>
          </p:cNvPr>
          <p:cNvGrpSpPr/>
          <p:nvPr/>
        </p:nvGrpSpPr>
        <p:grpSpPr>
          <a:xfrm>
            <a:off x="1225581" y="7119641"/>
            <a:ext cx="10483806" cy="842010"/>
            <a:chOff x="1225581" y="6982339"/>
            <a:chExt cx="10483806" cy="842010"/>
          </a:xfrm>
        </p:grpSpPr>
        <p:sp>
          <p:nvSpPr>
            <p:cNvPr id="9" name="TextBox 9"/>
            <p:cNvSpPr txBox="1"/>
            <p:nvPr/>
          </p:nvSpPr>
          <p:spPr>
            <a:xfrm>
              <a:off x="1225581" y="6982339"/>
              <a:ext cx="10483806" cy="430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 spc="-81">
                  <a:solidFill>
                    <a:srgbClr val="0075A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Campaign Strategy, Service Delivery Timeline &amp; Proposal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5581" y="7393819"/>
              <a:ext cx="10483806" cy="430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700" b="1" spc="-81" dirty="0">
                  <a:solidFill>
                    <a:srgbClr val="D6AE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 Mayor of Kansas City, Missouri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25581" y="8235829"/>
            <a:ext cx="6861124" cy="156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1" spc="-75" dirty="0">
                <a:solidFill>
                  <a:srgbClr val="0075A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 JPP Consulting</a:t>
            </a:r>
          </a:p>
          <a:p>
            <a:pPr algn="l">
              <a:lnSpc>
                <a:spcPts val="3125"/>
              </a:lnSpc>
            </a:pPr>
            <a:r>
              <a:rPr lang="en-US" sz="2500" b="1" spc="-75" dirty="0">
                <a:solidFill>
                  <a:srgbClr val="D6AE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AI-Based Political Consulting &amp; Social Sentiment-Driven Campaign Deliverables</a:t>
            </a:r>
          </a:p>
          <a:p>
            <a:pPr algn="l">
              <a:lnSpc>
                <a:spcPts val="3125"/>
              </a:lnSpc>
            </a:pPr>
            <a:r>
              <a:rPr lang="en-US" sz="2500" b="1" spc="-75" dirty="0">
                <a:solidFill>
                  <a:srgbClr val="0075A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kendatomesmcclain4kc.com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5151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684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48219" y="3495014"/>
            <a:ext cx="1459155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6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Aharoni" panose="02010803020104030203" pitchFamily="2" charset="-79"/>
                <a:sym typeface="Bebas Neue Bold"/>
              </a:rPr>
              <a:t>Thank You, Kenda — Scope &amp; Campaign Window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33801" y="4308832"/>
            <a:ext cx="11420395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dirty="0">
                <a:solidFill>
                  <a:srgbClr val="075092"/>
                </a:solidFill>
                <a:latin typeface="Canva Sans"/>
                <a:ea typeface="Canva Sans"/>
                <a:cs typeface="Canva Sans"/>
                <a:sym typeface="Canva Sans"/>
              </a:rPr>
              <a:t>Primary proposal only: April 2027 nonpartisan mayoral primary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981119"/>
            <a:ext cx="7904173" cy="4277181"/>
            <a:chOff x="0" y="0"/>
            <a:chExt cx="10538897" cy="570290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538897" cy="5702908"/>
              <a:chOff x="0" y="0"/>
              <a:chExt cx="2081757" cy="1126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81757" cy="1126500"/>
              </a:xfrm>
              <a:custGeom>
                <a:avLst/>
                <a:gdLst/>
                <a:ahLst/>
                <a:cxnLst/>
                <a:rect l="l" t="t" r="r" b="b"/>
                <a:pathLst>
                  <a:path w="2081757" h="1126500">
                    <a:moveTo>
                      <a:pt x="28405" y="0"/>
                    </a:moveTo>
                    <a:lnTo>
                      <a:pt x="2053353" y="0"/>
                    </a:lnTo>
                    <a:cubicBezTo>
                      <a:pt x="2069040" y="0"/>
                      <a:pt x="2081757" y="12717"/>
                      <a:pt x="2081757" y="28405"/>
                    </a:cubicBezTo>
                    <a:lnTo>
                      <a:pt x="2081757" y="1098096"/>
                    </a:lnTo>
                    <a:cubicBezTo>
                      <a:pt x="2081757" y="1105629"/>
                      <a:pt x="2078765" y="1112854"/>
                      <a:pt x="2073438" y="1118181"/>
                    </a:cubicBezTo>
                    <a:cubicBezTo>
                      <a:pt x="2068111" y="1123508"/>
                      <a:pt x="2060886" y="1126500"/>
                      <a:pt x="2053353" y="1126500"/>
                    </a:cubicBezTo>
                    <a:lnTo>
                      <a:pt x="28405" y="1126500"/>
                    </a:lnTo>
                    <a:cubicBezTo>
                      <a:pt x="20871" y="1126500"/>
                      <a:pt x="13646" y="1123508"/>
                      <a:pt x="8320" y="1118181"/>
                    </a:cubicBezTo>
                    <a:cubicBezTo>
                      <a:pt x="2993" y="1112854"/>
                      <a:pt x="0" y="1105629"/>
                      <a:pt x="0" y="1098096"/>
                    </a:cubicBezTo>
                    <a:lnTo>
                      <a:pt x="0" y="28405"/>
                    </a:lnTo>
                    <a:cubicBezTo>
                      <a:pt x="0" y="20871"/>
                      <a:pt x="2993" y="13646"/>
                      <a:pt x="8320" y="8320"/>
                    </a:cubicBezTo>
                    <a:cubicBezTo>
                      <a:pt x="13646" y="2993"/>
                      <a:pt x="20871" y="0"/>
                      <a:pt x="28405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57150"/>
                <a:ext cx="2081757" cy="1069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570693" y="429717"/>
              <a:ext cx="7397511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Thank you for the opportunity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1458" y="1263567"/>
              <a:ext cx="9295980" cy="3950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This proposal is built to carry a disciplined message Kansas City can trust.</a:t>
              </a:r>
            </a:p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The campaign will position Kenda as a fiscally serious leader focused on families, accountability, and results.</a:t>
              </a:r>
            </a:p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Every recommendation is designed to reach voters where they live, scroll, stream, and gather.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5127" y="4981119"/>
            <a:ext cx="7904173" cy="4277181"/>
            <a:chOff x="0" y="0"/>
            <a:chExt cx="10538897" cy="570290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538897" cy="5702908"/>
              <a:chOff x="0" y="0"/>
              <a:chExt cx="2081757" cy="1126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81757" cy="1126500"/>
              </a:xfrm>
              <a:custGeom>
                <a:avLst/>
                <a:gdLst/>
                <a:ahLst/>
                <a:cxnLst/>
                <a:rect l="l" t="t" r="r" b="b"/>
                <a:pathLst>
                  <a:path w="2081757" h="1126500">
                    <a:moveTo>
                      <a:pt x="28405" y="0"/>
                    </a:moveTo>
                    <a:lnTo>
                      <a:pt x="2053353" y="0"/>
                    </a:lnTo>
                    <a:cubicBezTo>
                      <a:pt x="2069040" y="0"/>
                      <a:pt x="2081757" y="12717"/>
                      <a:pt x="2081757" y="28405"/>
                    </a:cubicBezTo>
                    <a:lnTo>
                      <a:pt x="2081757" y="1098096"/>
                    </a:lnTo>
                    <a:cubicBezTo>
                      <a:pt x="2081757" y="1105629"/>
                      <a:pt x="2078765" y="1112854"/>
                      <a:pt x="2073438" y="1118181"/>
                    </a:cubicBezTo>
                    <a:cubicBezTo>
                      <a:pt x="2068111" y="1123508"/>
                      <a:pt x="2060886" y="1126500"/>
                      <a:pt x="2053353" y="1126500"/>
                    </a:cubicBezTo>
                    <a:lnTo>
                      <a:pt x="28405" y="1126500"/>
                    </a:lnTo>
                    <a:cubicBezTo>
                      <a:pt x="20871" y="1126500"/>
                      <a:pt x="13646" y="1123508"/>
                      <a:pt x="8320" y="1118181"/>
                    </a:cubicBezTo>
                    <a:cubicBezTo>
                      <a:pt x="2993" y="1112854"/>
                      <a:pt x="0" y="1105629"/>
                      <a:pt x="0" y="1098096"/>
                    </a:cubicBezTo>
                    <a:lnTo>
                      <a:pt x="0" y="28405"/>
                    </a:lnTo>
                    <a:cubicBezTo>
                      <a:pt x="0" y="20871"/>
                      <a:pt x="2993" y="13646"/>
                      <a:pt x="8320" y="8320"/>
                    </a:cubicBezTo>
                    <a:cubicBezTo>
                      <a:pt x="13646" y="2993"/>
                      <a:pt x="20871" y="0"/>
                      <a:pt x="28405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57150"/>
                <a:ext cx="2081757" cy="1069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570693" y="429717"/>
              <a:ext cx="7397511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Scope Note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1015" y="1263567"/>
              <a:ext cx="8856867" cy="3950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Primary campaign deliverables only.</a:t>
              </a:r>
            </a:p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Kansas City’s nonpartisan municipal primary is expected in April 2027.</a:t>
              </a:r>
            </a:p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Working planning date: April 6, 2027, pending the official Election Board calendar.</a:t>
              </a:r>
            </a:p>
            <a:p>
              <a:pPr algn="l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A June 2027 runoff/general election proposal will be prepared separately if Kenda advances.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45845" y="9858375"/>
            <a:ext cx="13796310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9825797" y="96873"/>
            <a:ext cx="1272762" cy="1273824"/>
          </a:xfrm>
          <a:custGeom>
            <a:avLst/>
            <a:gdLst/>
            <a:ahLst/>
            <a:cxnLst/>
            <a:rect l="l" t="t" r="r" b="b"/>
            <a:pathLst>
              <a:path w="1272762" h="1273824">
                <a:moveTo>
                  <a:pt x="0" y="0"/>
                </a:moveTo>
                <a:lnTo>
                  <a:pt x="1272763" y="0"/>
                </a:lnTo>
                <a:lnTo>
                  <a:pt x="1272763" y="1273824"/>
                </a:lnTo>
                <a:lnTo>
                  <a:pt x="0" y="1273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39840"/>
            <a:ext cx="18288000" cy="3947160"/>
          </a:xfrm>
          <a:custGeom>
            <a:avLst/>
            <a:gdLst/>
            <a:ahLst/>
            <a:cxnLst/>
            <a:rect l="l" t="t" r="r" b="b"/>
            <a:pathLst>
              <a:path w="18288000" h="3947160">
                <a:moveTo>
                  <a:pt x="0" y="0"/>
                </a:moveTo>
                <a:lnTo>
                  <a:pt x="18288000" y="0"/>
                </a:lnTo>
                <a:lnTo>
                  <a:pt x="18288000" y="3947160"/>
                </a:lnTo>
                <a:lnTo>
                  <a:pt x="0" y="394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460349" y="145982"/>
            <a:ext cx="17367302" cy="2283767"/>
            <a:chOff x="-1" y="-462355"/>
            <a:chExt cx="23156402" cy="3045022"/>
          </a:xfrm>
        </p:grpSpPr>
        <p:sp>
          <p:nvSpPr>
            <p:cNvPr id="25" name="TextBox 25"/>
            <p:cNvSpPr txBox="1"/>
            <p:nvPr/>
          </p:nvSpPr>
          <p:spPr>
            <a:xfrm>
              <a:off x="4754574" y="-462355"/>
              <a:ext cx="13647256" cy="1085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75"/>
                </a:lnSpc>
              </a:pPr>
              <a:r>
                <a:rPr lang="en-US" sz="4200" b="1" dirty="0">
                  <a:solidFill>
                    <a:srgbClr val="075092"/>
                  </a:solidFill>
                  <a:latin typeface="Bernard MT Condensed" panose="02050806060905020404" pitchFamily="18" charset="77"/>
                  <a:ea typeface="Bebas Neue Bold"/>
                  <a:cs typeface="Bebas Neue Bold"/>
                  <a:sym typeface="Bebas Neue Bold"/>
                </a:rPr>
                <a:t>Meet the JPP Consulting Team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6402" y="628138"/>
              <a:ext cx="16303598" cy="5247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300" dirty="0">
                  <a:solidFill>
                    <a:srgbClr val="000000"/>
                  </a:solidFill>
                  <a:latin typeface="Canva Sans"/>
                  <a:ea typeface="Canva Sans"/>
                  <a:cs typeface="Angsana New" panose="02020603050405020304" pitchFamily="18" charset="-34"/>
                  <a:sym typeface="Canva Sans"/>
                </a:rPr>
                <a:t>Enterprise-grade marketing technology, human oversight, and disciplined messaging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4574" y="1259973"/>
              <a:ext cx="13647256" cy="876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0"/>
                </a:lnSpc>
              </a:pPr>
              <a:r>
                <a:rPr lang="en-US" sz="3600" b="1" dirty="0">
                  <a:solidFill>
                    <a:srgbClr val="D6AE5E"/>
                  </a:solidFill>
                  <a:latin typeface="Bernard MT Condensed" panose="02050806060905020404" pitchFamily="18" charset="77"/>
                  <a:ea typeface="Bebas Neue Bold"/>
                  <a:cs typeface="Bebas Neue Bold"/>
                  <a:sym typeface="Bebas Neue Bold"/>
                </a:rPr>
                <a:t>100+ Years’  Combined Experience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" y="2126474"/>
              <a:ext cx="23156402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6"/>
                </a:lnSpc>
              </a:pPr>
              <a:r>
                <a:rPr lang="en-US" sz="2100" dirty="0">
                  <a:solidFill>
                    <a:srgbClr val="000000"/>
                  </a:solidFill>
                  <a:latin typeface="Canva Sans"/>
                  <a:ea typeface="Canva Sans"/>
                  <a:cs typeface="Angsana New" panose="02020603050405020304" pitchFamily="18" charset="-34"/>
                  <a:sym typeface="Canva Sans"/>
                </a:rPr>
                <a:t>Digital Marketing • Software Development • Telecommunications • Best-in-Breed IT Products • Human Resource Management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6230600" y="114338"/>
            <a:ext cx="1841113" cy="1842649"/>
          </a:xfrm>
          <a:custGeom>
            <a:avLst/>
            <a:gdLst/>
            <a:ahLst/>
            <a:cxnLst/>
            <a:rect l="l" t="t" r="r" b="b"/>
            <a:pathLst>
              <a:path w="1841113" h="1842649">
                <a:moveTo>
                  <a:pt x="0" y="0"/>
                </a:moveTo>
                <a:lnTo>
                  <a:pt x="1841114" y="0"/>
                </a:lnTo>
                <a:lnTo>
                  <a:pt x="1841114" y="1842649"/>
                </a:lnTo>
                <a:lnTo>
                  <a:pt x="0" y="1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CDCB7AA-29EE-3234-4B7D-60FABEBB21B1}"/>
              </a:ext>
            </a:extLst>
          </p:cNvPr>
          <p:cNvGrpSpPr/>
          <p:nvPr/>
        </p:nvGrpSpPr>
        <p:grpSpPr>
          <a:xfrm>
            <a:off x="1209147" y="2718564"/>
            <a:ext cx="15869704" cy="3506046"/>
            <a:chOff x="1209149" y="3389473"/>
            <a:chExt cx="15869704" cy="350604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29B3A28-B8D8-082F-FFAF-CE607718882D}"/>
                </a:ext>
              </a:extLst>
            </p:cNvPr>
            <p:cNvGrpSpPr/>
            <p:nvPr/>
          </p:nvGrpSpPr>
          <p:grpSpPr>
            <a:xfrm>
              <a:off x="1209149" y="3391480"/>
              <a:ext cx="3642001" cy="3504039"/>
              <a:chOff x="1347704" y="3891620"/>
              <a:chExt cx="3642001" cy="3504039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rgbClr val="D6AE5E"/>
                </a:solidFill>
                <a:ln w="38100" cap="rnd">
                  <a:solidFill>
                    <a:srgbClr val="075092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7" name="TextBox 7"/>
              <p:cNvSpPr txBox="1"/>
              <p:nvPr/>
            </p:nvSpPr>
            <p:spPr>
              <a:xfrm>
                <a:off x="1446339" y="6047043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rgbClr val="075092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AI Accountability Audit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10910" y="6515127"/>
                <a:ext cx="3315589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Enterprise-grade AI ethics and governance assessment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ACF802D-8ABF-F23A-738C-F6E5B38AA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32513" y="4035177"/>
                <a:ext cx="1868309" cy="1868309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31A3DE7-CB97-8AF4-3067-7EE3AD7F7A22}"/>
                </a:ext>
              </a:extLst>
            </p:cNvPr>
            <p:cNvGrpSpPr/>
            <p:nvPr/>
          </p:nvGrpSpPr>
          <p:grpSpPr>
            <a:xfrm>
              <a:off x="5234336" y="3391479"/>
              <a:ext cx="3665465" cy="3504039"/>
              <a:chOff x="1324240" y="3891620"/>
              <a:chExt cx="3665465" cy="3504039"/>
            </a:xfrm>
          </p:grpSpPr>
          <p:grpSp>
            <p:nvGrpSpPr>
              <p:cNvPr id="34" name="Group 4">
                <a:extLst>
                  <a:ext uri="{FF2B5EF4-FFF2-40B4-BE49-F238E27FC236}">
                    <a16:creationId xmlns:a16="http://schemas.microsoft.com/office/drawing/2014/main" id="{F81C45C3-1E20-AFF0-8A6F-69BBC783CA1E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38" name="Freeform 5">
                  <a:extLst>
                    <a:ext uri="{FF2B5EF4-FFF2-40B4-BE49-F238E27FC236}">
                      <a16:creationId xmlns:a16="http://schemas.microsoft.com/office/drawing/2014/main" id="{D27CA060-411B-7777-C850-F08F63E3ACB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38100" cap="rnd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" name="TextBox 6">
                  <a:extLst>
                    <a:ext uri="{FF2B5EF4-FFF2-40B4-BE49-F238E27FC236}">
                      <a16:creationId xmlns:a16="http://schemas.microsoft.com/office/drawing/2014/main" id="{DF151587-33E7-2372-ABA6-1546E214CCF8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35" name="TextBox 7">
                <a:extLst>
                  <a:ext uri="{FF2B5EF4-FFF2-40B4-BE49-F238E27FC236}">
                    <a16:creationId xmlns:a16="http://schemas.microsoft.com/office/drawing/2014/main" id="{0A894CE0-3A91-2DE8-CAA1-55B04C3F5AC2}"/>
                  </a:ext>
                </a:extLst>
              </p:cNvPr>
              <p:cNvSpPr txBox="1"/>
              <p:nvPr/>
            </p:nvSpPr>
            <p:spPr>
              <a:xfrm>
                <a:off x="1390256" y="5990538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chemeClr val="bg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AI Agent</a:t>
                </a:r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D9286778-BC3D-C83E-1A97-7D49C177937E}"/>
                  </a:ext>
                </a:extLst>
              </p:cNvPr>
              <p:cNvSpPr txBox="1"/>
              <p:nvPr/>
            </p:nvSpPr>
            <p:spPr>
              <a:xfrm>
                <a:off x="1324240" y="6515128"/>
                <a:ext cx="3642000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AI-powered contact 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handling with human oversight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5686D38-F66C-9D04-7CD7-70FCE2A30CCE}"/>
                </a:ext>
              </a:extLst>
            </p:cNvPr>
            <p:cNvGrpSpPr/>
            <p:nvPr/>
          </p:nvGrpSpPr>
          <p:grpSpPr>
            <a:xfrm>
              <a:off x="9306451" y="3389474"/>
              <a:ext cx="3642001" cy="3504039"/>
              <a:chOff x="1347704" y="3891620"/>
              <a:chExt cx="3642001" cy="3504039"/>
            </a:xfrm>
          </p:grpSpPr>
          <p:grpSp>
            <p:nvGrpSpPr>
              <p:cNvPr id="41" name="Group 4">
                <a:extLst>
                  <a:ext uri="{FF2B5EF4-FFF2-40B4-BE49-F238E27FC236}">
                    <a16:creationId xmlns:a16="http://schemas.microsoft.com/office/drawing/2014/main" id="{0792A03B-7C99-8F0A-EF12-2E1E7BA40CA9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45" name="Freeform 5">
                  <a:extLst>
                    <a:ext uri="{FF2B5EF4-FFF2-40B4-BE49-F238E27FC236}">
                      <a16:creationId xmlns:a16="http://schemas.microsoft.com/office/drawing/2014/main" id="{D6A4CDA6-BADF-2D61-D1F6-3427F81B948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rgbClr val="D6AE5E"/>
                </a:solidFill>
                <a:ln w="38100" cap="rnd">
                  <a:solidFill>
                    <a:srgbClr val="075092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TextBox 6">
                  <a:extLst>
                    <a:ext uri="{FF2B5EF4-FFF2-40B4-BE49-F238E27FC236}">
                      <a16:creationId xmlns:a16="http://schemas.microsoft.com/office/drawing/2014/main" id="{22E3BE25-20C6-3E22-1DEB-0B5BA7CC477E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42" name="TextBox 7">
                <a:extLst>
                  <a:ext uri="{FF2B5EF4-FFF2-40B4-BE49-F238E27FC236}">
                    <a16:creationId xmlns:a16="http://schemas.microsoft.com/office/drawing/2014/main" id="{F2CDE1E3-F421-644F-B2A9-5CDFC7EB10F5}"/>
                  </a:ext>
                </a:extLst>
              </p:cNvPr>
              <p:cNvSpPr txBox="1"/>
              <p:nvPr/>
            </p:nvSpPr>
            <p:spPr>
              <a:xfrm>
                <a:off x="1394968" y="5990668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rgbClr val="075092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Intent Digital Marketing</a:t>
                </a:r>
              </a:p>
            </p:txBody>
          </p:sp>
          <p:sp>
            <p:nvSpPr>
              <p:cNvPr id="43" name="TextBox 8">
                <a:extLst>
                  <a:ext uri="{FF2B5EF4-FFF2-40B4-BE49-F238E27FC236}">
                    <a16:creationId xmlns:a16="http://schemas.microsoft.com/office/drawing/2014/main" id="{8E0C2C47-EF32-4077-0680-07A755E0D0E4}"/>
                  </a:ext>
                </a:extLst>
              </p:cNvPr>
              <p:cNvSpPr txBox="1"/>
              <p:nvPr/>
            </p:nvSpPr>
            <p:spPr>
              <a:xfrm>
                <a:off x="1695617" y="6471420"/>
                <a:ext cx="2942094" cy="8309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Multichannel campaigns, copywriting for measurable results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3354F98-5802-636C-4E85-BDD9850264DC}"/>
                </a:ext>
              </a:extLst>
            </p:cNvPr>
            <p:cNvGrpSpPr/>
            <p:nvPr/>
          </p:nvGrpSpPr>
          <p:grpSpPr>
            <a:xfrm>
              <a:off x="13436852" y="3389473"/>
              <a:ext cx="3642001" cy="3504039"/>
              <a:chOff x="1347704" y="3891620"/>
              <a:chExt cx="3642001" cy="3504039"/>
            </a:xfrm>
          </p:grpSpPr>
          <p:grpSp>
            <p:nvGrpSpPr>
              <p:cNvPr id="48" name="Group 4">
                <a:extLst>
                  <a:ext uri="{FF2B5EF4-FFF2-40B4-BE49-F238E27FC236}">
                    <a16:creationId xmlns:a16="http://schemas.microsoft.com/office/drawing/2014/main" id="{F282769B-7E7D-DAF5-BA6C-EF7711F9ED12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52" name="Freeform 5">
                  <a:extLst>
                    <a:ext uri="{FF2B5EF4-FFF2-40B4-BE49-F238E27FC236}">
                      <a16:creationId xmlns:a16="http://schemas.microsoft.com/office/drawing/2014/main" id="{E4908058-2B8A-488B-EE83-1D53EE402CA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38100" cap="rnd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Box 6">
                  <a:extLst>
                    <a:ext uri="{FF2B5EF4-FFF2-40B4-BE49-F238E27FC236}">
                      <a16:creationId xmlns:a16="http://schemas.microsoft.com/office/drawing/2014/main" id="{E496EAE0-2AC0-DA40-88B9-008B6E13BEAA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49" name="TextBox 7">
                <a:extLst>
                  <a:ext uri="{FF2B5EF4-FFF2-40B4-BE49-F238E27FC236}">
                    <a16:creationId xmlns:a16="http://schemas.microsoft.com/office/drawing/2014/main" id="{5F58F600-84BD-DD52-8BE2-389311BD58D8}"/>
                  </a:ext>
                </a:extLst>
              </p:cNvPr>
              <p:cNvSpPr txBox="1"/>
              <p:nvPr/>
            </p:nvSpPr>
            <p:spPr>
              <a:xfrm>
                <a:off x="1588413" y="5990669"/>
                <a:ext cx="3152315" cy="9694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chemeClr val="bg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AI Data Center Consulting / Backlash-to-Partnership Advisory</a:t>
                </a: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BADA418-D776-127A-2802-26CC41A52BEE}"/>
              </a:ext>
            </a:extLst>
          </p:cNvPr>
          <p:cNvGrpSpPr/>
          <p:nvPr/>
        </p:nvGrpSpPr>
        <p:grpSpPr>
          <a:xfrm>
            <a:off x="1209147" y="6481446"/>
            <a:ext cx="15869704" cy="3506046"/>
            <a:chOff x="1209149" y="3389473"/>
            <a:chExt cx="15869704" cy="3506046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612BECD-89BD-D999-D682-FBFC6107C8AF}"/>
                </a:ext>
              </a:extLst>
            </p:cNvPr>
            <p:cNvGrpSpPr/>
            <p:nvPr/>
          </p:nvGrpSpPr>
          <p:grpSpPr>
            <a:xfrm>
              <a:off x="1209149" y="3391480"/>
              <a:ext cx="3642001" cy="3504039"/>
              <a:chOff x="1347704" y="3891620"/>
              <a:chExt cx="3642001" cy="3504039"/>
            </a:xfrm>
          </p:grpSpPr>
          <p:grpSp>
            <p:nvGrpSpPr>
              <p:cNvPr id="106" name="Group 4">
                <a:extLst>
                  <a:ext uri="{FF2B5EF4-FFF2-40B4-BE49-F238E27FC236}">
                    <a16:creationId xmlns:a16="http://schemas.microsoft.com/office/drawing/2014/main" id="{F15DFC23-8CDB-DB1F-F420-B2FC92C775D0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110" name="Freeform 5">
                  <a:extLst>
                    <a:ext uri="{FF2B5EF4-FFF2-40B4-BE49-F238E27FC236}">
                      <a16:creationId xmlns:a16="http://schemas.microsoft.com/office/drawing/2014/main" id="{07CF3467-8BBA-D9E6-A52F-621978CB8B0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38100" cap="rnd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TextBox 6">
                  <a:extLst>
                    <a:ext uri="{FF2B5EF4-FFF2-40B4-BE49-F238E27FC236}">
                      <a16:creationId xmlns:a16="http://schemas.microsoft.com/office/drawing/2014/main" id="{DA106EDF-328B-5842-AABC-D2B5C78DCC8E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107" name="TextBox 7">
                <a:extLst>
                  <a:ext uri="{FF2B5EF4-FFF2-40B4-BE49-F238E27FC236}">
                    <a16:creationId xmlns:a16="http://schemas.microsoft.com/office/drawing/2014/main" id="{52F68B0E-B7B7-6FED-2E60-12C3060132C5}"/>
                  </a:ext>
                </a:extLst>
              </p:cNvPr>
              <p:cNvSpPr txBox="1"/>
              <p:nvPr/>
            </p:nvSpPr>
            <p:spPr>
              <a:xfrm>
                <a:off x="1446339" y="6047043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 err="1">
                    <a:solidFill>
                      <a:schemeClr val="bg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NoW</a:t>
                </a:r>
                <a:r>
                  <a:rPr lang="en-US" sz="2100" b="1" dirty="0">
                    <a:solidFill>
                      <a:schemeClr val="bg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 Video</a:t>
                </a:r>
              </a:p>
            </p:txBody>
          </p:sp>
          <p:sp>
            <p:nvSpPr>
              <p:cNvPr id="108" name="TextBox 8">
                <a:extLst>
                  <a:ext uri="{FF2B5EF4-FFF2-40B4-BE49-F238E27FC236}">
                    <a16:creationId xmlns:a16="http://schemas.microsoft.com/office/drawing/2014/main" id="{EB9870C0-49B8-1E09-7615-7C134A18BF22}"/>
                  </a:ext>
                </a:extLst>
              </p:cNvPr>
              <p:cNvSpPr txBox="1"/>
              <p:nvPr/>
            </p:nvSpPr>
            <p:spPr>
              <a:xfrm>
                <a:off x="1394968" y="6579144"/>
                <a:ext cx="3543394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Real-Time Voice Translation / Transcription video chat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F85704A6-835D-F058-6CEA-534DAFBB80AB}"/>
                </a:ext>
              </a:extLst>
            </p:cNvPr>
            <p:cNvGrpSpPr/>
            <p:nvPr/>
          </p:nvGrpSpPr>
          <p:grpSpPr>
            <a:xfrm>
              <a:off x="5257800" y="3391479"/>
              <a:ext cx="3642001" cy="3504039"/>
              <a:chOff x="1347704" y="3891620"/>
              <a:chExt cx="3642001" cy="3504039"/>
            </a:xfrm>
          </p:grpSpPr>
          <p:grpSp>
            <p:nvGrpSpPr>
              <p:cNvPr id="100" name="Group 4">
                <a:extLst>
                  <a:ext uri="{FF2B5EF4-FFF2-40B4-BE49-F238E27FC236}">
                    <a16:creationId xmlns:a16="http://schemas.microsoft.com/office/drawing/2014/main" id="{44B8CEAE-3607-644C-8795-A66331EBDB46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104" name="Freeform 5">
                  <a:extLst>
                    <a:ext uri="{FF2B5EF4-FFF2-40B4-BE49-F238E27FC236}">
                      <a16:creationId xmlns:a16="http://schemas.microsoft.com/office/drawing/2014/main" id="{73A33A17-88A6-08BF-CA6D-7967A868CFF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rgbClr val="D6AE5E"/>
                </a:solidFill>
                <a:ln w="38100" cap="rnd">
                  <a:solidFill>
                    <a:srgbClr val="075092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TextBox 6">
                  <a:extLst>
                    <a:ext uri="{FF2B5EF4-FFF2-40B4-BE49-F238E27FC236}">
                      <a16:creationId xmlns:a16="http://schemas.microsoft.com/office/drawing/2014/main" id="{95FB5348-692C-D503-8930-1D3B42233929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101" name="TextBox 7">
                <a:extLst>
                  <a:ext uri="{FF2B5EF4-FFF2-40B4-BE49-F238E27FC236}">
                    <a16:creationId xmlns:a16="http://schemas.microsoft.com/office/drawing/2014/main" id="{D1A2C2A2-B015-5C45-6DD5-6AAB0D39D1A6}"/>
                  </a:ext>
                </a:extLst>
              </p:cNvPr>
              <p:cNvSpPr txBox="1"/>
              <p:nvPr/>
            </p:nvSpPr>
            <p:spPr>
              <a:xfrm>
                <a:off x="1446339" y="6047043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rgbClr val="075092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Ask Carrie</a:t>
                </a:r>
              </a:p>
            </p:txBody>
          </p:sp>
          <p:sp>
            <p:nvSpPr>
              <p:cNvPr id="102" name="TextBox 8">
                <a:extLst>
                  <a:ext uri="{FF2B5EF4-FFF2-40B4-BE49-F238E27FC236}">
                    <a16:creationId xmlns:a16="http://schemas.microsoft.com/office/drawing/2014/main" id="{63023CEA-31AD-40B9-7FED-4DF2B36A3755}"/>
                  </a:ext>
                </a:extLst>
              </p:cNvPr>
              <p:cNvSpPr txBox="1"/>
              <p:nvPr/>
            </p:nvSpPr>
            <p:spPr>
              <a:xfrm>
                <a:off x="1394968" y="6579144"/>
                <a:ext cx="3543394" cy="276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AI-knowledge Base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327CB67-C37D-F3C7-606B-75FB12A73775}"/>
                </a:ext>
              </a:extLst>
            </p:cNvPr>
            <p:cNvGrpSpPr/>
            <p:nvPr/>
          </p:nvGrpSpPr>
          <p:grpSpPr>
            <a:xfrm>
              <a:off x="9306451" y="3389474"/>
              <a:ext cx="3642001" cy="3504039"/>
              <a:chOff x="1347704" y="3891620"/>
              <a:chExt cx="3642001" cy="3504039"/>
            </a:xfrm>
          </p:grpSpPr>
          <p:grpSp>
            <p:nvGrpSpPr>
              <p:cNvPr id="94" name="Group 4">
                <a:extLst>
                  <a:ext uri="{FF2B5EF4-FFF2-40B4-BE49-F238E27FC236}">
                    <a16:creationId xmlns:a16="http://schemas.microsoft.com/office/drawing/2014/main" id="{037EF8E8-FC64-55F0-B464-DB82FBC08D8E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98" name="Freeform 5">
                  <a:extLst>
                    <a:ext uri="{FF2B5EF4-FFF2-40B4-BE49-F238E27FC236}">
                      <a16:creationId xmlns:a16="http://schemas.microsoft.com/office/drawing/2014/main" id="{51C0B596-FE2C-A511-6796-A5F08E6BE20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38100" cap="rnd">
                  <a:solidFill>
                    <a:schemeClr val="bg2">
                      <a:lumMod val="50000"/>
                    </a:scheme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TextBox 6">
                  <a:extLst>
                    <a:ext uri="{FF2B5EF4-FFF2-40B4-BE49-F238E27FC236}">
                      <a16:creationId xmlns:a16="http://schemas.microsoft.com/office/drawing/2014/main" id="{10CD4540-2A66-1E2F-CE51-A34842805269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95" name="TextBox 7">
                <a:extLst>
                  <a:ext uri="{FF2B5EF4-FFF2-40B4-BE49-F238E27FC236}">
                    <a16:creationId xmlns:a16="http://schemas.microsoft.com/office/drawing/2014/main" id="{357EB8E6-2D67-4A56-1410-66713CCC0556}"/>
                  </a:ext>
                </a:extLst>
              </p:cNvPr>
              <p:cNvSpPr txBox="1"/>
              <p:nvPr/>
            </p:nvSpPr>
            <p:spPr>
              <a:xfrm>
                <a:off x="1446339" y="6047043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chemeClr val="bg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Explainer Videos</a:t>
                </a:r>
              </a:p>
            </p:txBody>
          </p:sp>
          <p:sp>
            <p:nvSpPr>
              <p:cNvPr id="96" name="TextBox 8">
                <a:extLst>
                  <a:ext uri="{FF2B5EF4-FFF2-40B4-BE49-F238E27FC236}">
                    <a16:creationId xmlns:a16="http://schemas.microsoft.com/office/drawing/2014/main" id="{07AF58AA-AAED-C071-B251-490D32B4D2AF}"/>
                  </a:ext>
                </a:extLst>
              </p:cNvPr>
              <p:cNvSpPr txBox="1"/>
              <p:nvPr/>
            </p:nvSpPr>
            <p:spPr>
              <a:xfrm>
                <a:off x="1394968" y="6579144"/>
                <a:ext cx="3543394" cy="27699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Animated educational videos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DE649BE-38AE-D210-98E8-358236FD7657}"/>
                </a:ext>
              </a:extLst>
            </p:cNvPr>
            <p:cNvGrpSpPr/>
            <p:nvPr/>
          </p:nvGrpSpPr>
          <p:grpSpPr>
            <a:xfrm>
              <a:off x="13436852" y="3389473"/>
              <a:ext cx="3642001" cy="3504039"/>
              <a:chOff x="1347704" y="3891620"/>
              <a:chExt cx="3642001" cy="3504039"/>
            </a:xfrm>
          </p:grpSpPr>
          <p:grpSp>
            <p:nvGrpSpPr>
              <p:cNvPr id="88" name="Group 4">
                <a:extLst>
                  <a:ext uri="{FF2B5EF4-FFF2-40B4-BE49-F238E27FC236}">
                    <a16:creationId xmlns:a16="http://schemas.microsoft.com/office/drawing/2014/main" id="{668117A7-BAF4-6F24-869B-756D38E435E4}"/>
                  </a:ext>
                </a:extLst>
              </p:cNvPr>
              <p:cNvGrpSpPr/>
              <p:nvPr/>
            </p:nvGrpSpPr>
            <p:grpSpPr>
              <a:xfrm>
                <a:off x="1347704" y="3891620"/>
                <a:ext cx="3642001" cy="3504039"/>
                <a:chOff x="0" y="0"/>
                <a:chExt cx="1449883" cy="1394960"/>
              </a:xfrm>
            </p:grpSpPr>
            <p:sp>
              <p:nvSpPr>
                <p:cNvPr id="92" name="Freeform 5">
                  <a:extLst>
                    <a:ext uri="{FF2B5EF4-FFF2-40B4-BE49-F238E27FC236}">
                      <a16:creationId xmlns:a16="http://schemas.microsoft.com/office/drawing/2014/main" id="{2839C37A-F80A-125E-0633-D07F4141F1A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49883" cy="139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883" h="1394960">
                      <a:moveTo>
                        <a:pt x="40784" y="0"/>
                      </a:moveTo>
                      <a:lnTo>
                        <a:pt x="1409099" y="0"/>
                      </a:lnTo>
                      <a:cubicBezTo>
                        <a:pt x="1431623" y="0"/>
                        <a:pt x="1449883" y="18260"/>
                        <a:pt x="1449883" y="40784"/>
                      </a:cubicBezTo>
                      <a:lnTo>
                        <a:pt x="1449883" y="1354176"/>
                      </a:lnTo>
                      <a:cubicBezTo>
                        <a:pt x="1449883" y="1376700"/>
                        <a:pt x="1431623" y="1394960"/>
                        <a:pt x="1409099" y="1394960"/>
                      </a:cubicBezTo>
                      <a:lnTo>
                        <a:pt x="40784" y="1394960"/>
                      </a:lnTo>
                      <a:cubicBezTo>
                        <a:pt x="18260" y="1394960"/>
                        <a:pt x="0" y="1376700"/>
                        <a:pt x="0" y="1354176"/>
                      </a:cubicBezTo>
                      <a:lnTo>
                        <a:pt x="0" y="40784"/>
                      </a:lnTo>
                      <a:cubicBezTo>
                        <a:pt x="0" y="18260"/>
                        <a:pt x="18260" y="0"/>
                        <a:pt x="40784" y="0"/>
                      </a:cubicBezTo>
                      <a:close/>
                    </a:path>
                  </a:pathLst>
                </a:custGeom>
                <a:solidFill>
                  <a:srgbClr val="D6AE5E"/>
                </a:solidFill>
                <a:ln w="38100" cap="rnd">
                  <a:solidFill>
                    <a:srgbClr val="075092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TextBox 6">
                  <a:extLst>
                    <a:ext uri="{FF2B5EF4-FFF2-40B4-BE49-F238E27FC236}">
                      <a16:creationId xmlns:a16="http://schemas.microsoft.com/office/drawing/2014/main" id="{4A8869FA-0F3E-1301-4A07-2128B05D8E0A}"/>
                    </a:ext>
                  </a:extLst>
                </p:cNvPr>
                <p:cNvSpPr txBox="1"/>
                <p:nvPr/>
              </p:nvSpPr>
              <p:spPr>
                <a:xfrm>
                  <a:off x="0" y="57150"/>
                  <a:ext cx="1449883" cy="133781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89" name="TextBox 7">
                <a:extLst>
                  <a:ext uri="{FF2B5EF4-FFF2-40B4-BE49-F238E27FC236}">
                    <a16:creationId xmlns:a16="http://schemas.microsoft.com/office/drawing/2014/main" id="{92ABC1B3-0110-DDC3-E24E-6F8A37B3AE4C}"/>
                  </a:ext>
                </a:extLst>
              </p:cNvPr>
              <p:cNvSpPr txBox="1"/>
              <p:nvPr/>
            </p:nvSpPr>
            <p:spPr>
              <a:xfrm>
                <a:off x="1446339" y="6047043"/>
                <a:ext cx="3440651" cy="3935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dirty="0">
                    <a:solidFill>
                      <a:srgbClr val="075092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Strategic AI Development</a:t>
                </a:r>
              </a:p>
            </p:txBody>
          </p:sp>
          <p:sp>
            <p:nvSpPr>
              <p:cNvPr id="90" name="TextBox 8">
                <a:extLst>
                  <a:ext uri="{FF2B5EF4-FFF2-40B4-BE49-F238E27FC236}">
                    <a16:creationId xmlns:a16="http://schemas.microsoft.com/office/drawing/2014/main" id="{627A770E-E786-BBF7-2068-889905DDD586}"/>
                  </a:ext>
                </a:extLst>
              </p:cNvPr>
              <p:cNvSpPr txBox="1"/>
              <p:nvPr/>
            </p:nvSpPr>
            <p:spPr>
              <a:xfrm>
                <a:off x="1791327" y="6579145"/>
                <a:ext cx="2746486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End-to-end design / build / host / manage</a:t>
                </a:r>
              </a:p>
            </p:txBody>
          </p:sp>
        </p:grpSp>
      </p:grpSp>
      <p:pic>
        <p:nvPicPr>
          <p:cNvPr id="113" name="Picture 112">
            <a:extLst>
              <a:ext uri="{FF2B5EF4-FFF2-40B4-BE49-F238E27FC236}">
                <a16:creationId xmlns:a16="http://schemas.microsoft.com/office/drawing/2014/main" id="{AAFF9B5A-3B2F-8437-5E5E-6A0E7C957B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22"/>
          <a:stretch>
            <a:fillRect/>
          </a:stretch>
        </p:blipFill>
        <p:spPr>
          <a:xfrm>
            <a:off x="5698997" y="2862121"/>
            <a:ext cx="2755521" cy="187589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BD211805-4911-F129-973C-87FD88A93F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972" y="2862121"/>
            <a:ext cx="1870316" cy="1870316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F63D803A-B312-D3CB-C9C0-280FF5D330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659" y="2866313"/>
            <a:ext cx="1864117" cy="1864117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65D39502-7E52-D205-0423-7D27745BDF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18" y="6625002"/>
            <a:ext cx="1868309" cy="1868309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21154D50-36B6-9020-C601-16EC786A53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75" y="6629764"/>
            <a:ext cx="1863317" cy="1863317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4D891D6C-01B5-90E9-FD8C-8CE4F8479D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209" y="6625002"/>
            <a:ext cx="1868079" cy="1868079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02C70570-366C-814A-6656-44010558DF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0738" y="6626413"/>
            <a:ext cx="3325956" cy="1868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9845" y="1049217"/>
            <a:ext cx="1480285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Website Revamp </a:t>
            </a:r>
            <a:r>
              <a:rPr lang="en-US" sz="6000" b="1" dirty="0">
                <a:solidFill>
                  <a:srgbClr val="4A7694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→</a:t>
            </a:r>
            <a:r>
              <a:rPr lang="en-US" sz="60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 Immediate Brand Build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05" y="2075620"/>
            <a:ext cx="15358386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soon as kendatomesmcclain4kc.com is revamped, the brand-building engine starts</a:t>
            </a:r>
          </a:p>
        </p:txBody>
      </p:sp>
      <p:sp>
        <p:nvSpPr>
          <p:cNvPr id="4" name="Freeform 4"/>
          <p:cNvSpPr/>
          <p:nvPr/>
        </p:nvSpPr>
        <p:spPr>
          <a:xfrm rot="810221">
            <a:off x="-992155" y="6226300"/>
            <a:ext cx="15396869" cy="5394960"/>
          </a:xfrm>
          <a:custGeom>
            <a:avLst/>
            <a:gdLst/>
            <a:ahLst/>
            <a:cxnLst/>
            <a:rect l="l" t="t" r="r" b="b"/>
            <a:pathLst>
              <a:path w="18288000" h="5394960">
                <a:moveTo>
                  <a:pt x="0" y="0"/>
                </a:moveTo>
                <a:lnTo>
                  <a:pt x="18288000" y="0"/>
                </a:lnTo>
                <a:lnTo>
                  <a:pt x="18288000" y="5394960"/>
                </a:lnTo>
                <a:lnTo>
                  <a:pt x="0" y="5394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804" t="1364" r="-972" b="-1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5512703" y="204597"/>
            <a:ext cx="2099397" cy="2101148"/>
          </a:xfrm>
          <a:custGeom>
            <a:avLst/>
            <a:gdLst/>
            <a:ahLst/>
            <a:cxnLst/>
            <a:rect l="l" t="t" r="r" b="b"/>
            <a:pathLst>
              <a:path w="2099397" h="2101148">
                <a:moveTo>
                  <a:pt x="0" y="0"/>
                </a:moveTo>
                <a:lnTo>
                  <a:pt x="2099397" y="0"/>
                </a:lnTo>
                <a:lnTo>
                  <a:pt x="2099397" y="2101148"/>
                </a:lnTo>
                <a:lnTo>
                  <a:pt x="0" y="2101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3982462" y="9267825"/>
            <a:ext cx="4184829" cy="81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 spc="-53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</a:t>
            </a:r>
          </a:p>
          <a:p>
            <a:pPr algn="ctr">
              <a:lnSpc>
                <a:spcPts val="2196"/>
              </a:lnSpc>
            </a:pPr>
            <a:r>
              <a:rPr lang="en-US" sz="1800" spc="-53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Primary Campaign Deliverables Only Prepared by JPP Consulting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429D91-3807-5C41-1B66-FCF8F30A5464}"/>
              </a:ext>
            </a:extLst>
          </p:cNvPr>
          <p:cNvGrpSpPr/>
          <p:nvPr/>
        </p:nvGrpSpPr>
        <p:grpSpPr>
          <a:xfrm>
            <a:off x="709845" y="2854812"/>
            <a:ext cx="16868310" cy="6667152"/>
            <a:chOff x="735281" y="2389074"/>
            <a:chExt cx="16868310" cy="6667152"/>
          </a:xfrm>
        </p:grpSpPr>
        <p:grpSp>
          <p:nvGrpSpPr>
            <p:cNvPr id="5" name="Group 5"/>
            <p:cNvGrpSpPr/>
            <p:nvPr/>
          </p:nvGrpSpPr>
          <p:grpSpPr>
            <a:xfrm>
              <a:off x="735281" y="2389074"/>
              <a:ext cx="12618509" cy="6667152"/>
              <a:chOff x="0" y="0"/>
              <a:chExt cx="22477924" cy="6414403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0" y="0"/>
                <a:ext cx="7341763" cy="6414403"/>
                <a:chOff x="0" y="0"/>
                <a:chExt cx="1816391" cy="1586957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1816391" cy="130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391" h="1586957">
                      <a:moveTo>
                        <a:pt x="40774" y="0"/>
                      </a:moveTo>
                      <a:lnTo>
                        <a:pt x="1775617" y="0"/>
                      </a:lnTo>
                      <a:cubicBezTo>
                        <a:pt x="1786431" y="0"/>
                        <a:pt x="1796802" y="4296"/>
                        <a:pt x="1804449" y="11942"/>
                      </a:cubicBezTo>
                      <a:cubicBezTo>
                        <a:pt x="1812095" y="19589"/>
                        <a:pt x="1816391" y="29960"/>
                        <a:pt x="1816391" y="40774"/>
                      </a:cubicBezTo>
                      <a:lnTo>
                        <a:pt x="1816391" y="1546183"/>
                      </a:lnTo>
                      <a:cubicBezTo>
                        <a:pt x="1816391" y="1556997"/>
                        <a:pt x="1812095" y="1567368"/>
                        <a:pt x="1804449" y="1575015"/>
                      </a:cubicBezTo>
                      <a:cubicBezTo>
                        <a:pt x="1796802" y="1582662"/>
                        <a:pt x="1786431" y="1586957"/>
                        <a:pt x="1775617" y="1586957"/>
                      </a:cubicBezTo>
                      <a:lnTo>
                        <a:pt x="40774" y="1586957"/>
                      </a:lnTo>
                      <a:cubicBezTo>
                        <a:pt x="29960" y="1586957"/>
                        <a:pt x="19589" y="1582662"/>
                        <a:pt x="11942" y="1575015"/>
                      </a:cubicBezTo>
                      <a:cubicBezTo>
                        <a:pt x="4296" y="1567368"/>
                        <a:pt x="0" y="1556997"/>
                        <a:pt x="0" y="1546183"/>
                      </a:cubicBezTo>
                      <a:lnTo>
                        <a:pt x="0" y="40774"/>
                      </a:lnTo>
                      <a:cubicBezTo>
                        <a:pt x="0" y="29960"/>
                        <a:pt x="4296" y="19589"/>
                        <a:pt x="11942" y="11942"/>
                      </a:cubicBezTo>
                      <a:cubicBezTo>
                        <a:pt x="19589" y="4296"/>
                        <a:pt x="29960" y="0"/>
                        <a:pt x="40774" y="0"/>
                      </a:cubicBezTo>
                      <a:close/>
                    </a:path>
                  </a:pathLst>
                </a:custGeom>
                <a:solidFill>
                  <a:srgbClr val="075092"/>
                </a:solidFill>
                <a:ln w="38100" cap="rnd">
                  <a:solidFill>
                    <a:srgbClr val="D6AE5E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0" y="57150"/>
                  <a:ext cx="1816391" cy="1529807"/>
                </a:xfrm>
                <a:prstGeom prst="rect">
                  <a:avLst/>
                </a:prstGeom>
              </p:spPr>
              <p:txBody>
                <a:bodyPr lIns="40559" tIns="40559" rIns="40559" bIns="40559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96121" y="422656"/>
                <a:ext cx="7149517" cy="37544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spc="-27" dirty="0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1. Launch the refreshed brand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26476" y="1165234"/>
                <a:ext cx="6688804" cy="29721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69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Updated design, pillar messaging, and conversion paths.</a:t>
                </a:r>
              </a:p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69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Campaign colors, headline hierarchy, calls-to-action, donation/volunteer flows.</a:t>
                </a:r>
              </a:p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69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Consistent visual language across web, social, text, and streaming.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7565797" y="0"/>
                <a:ext cx="7341763" cy="6414403"/>
                <a:chOff x="0" y="0"/>
                <a:chExt cx="1816391" cy="1586957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1816391" cy="130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391" h="1586957">
                      <a:moveTo>
                        <a:pt x="40774" y="0"/>
                      </a:moveTo>
                      <a:lnTo>
                        <a:pt x="1775617" y="0"/>
                      </a:lnTo>
                      <a:cubicBezTo>
                        <a:pt x="1786431" y="0"/>
                        <a:pt x="1796802" y="4296"/>
                        <a:pt x="1804449" y="11942"/>
                      </a:cubicBezTo>
                      <a:cubicBezTo>
                        <a:pt x="1812095" y="19589"/>
                        <a:pt x="1816391" y="29960"/>
                        <a:pt x="1816391" y="40774"/>
                      </a:cubicBezTo>
                      <a:lnTo>
                        <a:pt x="1816391" y="1546183"/>
                      </a:lnTo>
                      <a:cubicBezTo>
                        <a:pt x="1816391" y="1556997"/>
                        <a:pt x="1812095" y="1567368"/>
                        <a:pt x="1804449" y="1575015"/>
                      </a:cubicBezTo>
                      <a:cubicBezTo>
                        <a:pt x="1796802" y="1582662"/>
                        <a:pt x="1786431" y="1586957"/>
                        <a:pt x="1775617" y="1586957"/>
                      </a:cubicBezTo>
                      <a:lnTo>
                        <a:pt x="40774" y="1586957"/>
                      </a:lnTo>
                      <a:cubicBezTo>
                        <a:pt x="29960" y="1586957"/>
                        <a:pt x="19589" y="1582662"/>
                        <a:pt x="11942" y="1575015"/>
                      </a:cubicBezTo>
                      <a:cubicBezTo>
                        <a:pt x="4296" y="1567368"/>
                        <a:pt x="0" y="1556997"/>
                        <a:pt x="0" y="1546183"/>
                      </a:cubicBezTo>
                      <a:lnTo>
                        <a:pt x="0" y="40774"/>
                      </a:lnTo>
                      <a:cubicBezTo>
                        <a:pt x="0" y="29960"/>
                        <a:pt x="4296" y="19589"/>
                        <a:pt x="11942" y="11942"/>
                      </a:cubicBezTo>
                      <a:cubicBezTo>
                        <a:pt x="19589" y="4296"/>
                        <a:pt x="29960" y="0"/>
                        <a:pt x="40774" y="0"/>
                      </a:cubicBezTo>
                      <a:close/>
                    </a:path>
                  </a:pathLst>
                </a:custGeom>
                <a:solidFill>
                  <a:srgbClr val="D6AE5E"/>
                </a:solidFill>
                <a:ln w="38100" cap="rnd">
                  <a:solidFill>
                    <a:srgbClr val="075092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0" y="57150"/>
                  <a:ext cx="1816391" cy="1529807"/>
                </a:xfrm>
                <a:prstGeom prst="rect">
                  <a:avLst/>
                </a:prstGeom>
              </p:spPr>
              <p:txBody>
                <a:bodyPr lIns="40559" tIns="40559" rIns="40559" bIns="40559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7698166" y="423044"/>
                <a:ext cx="7077022" cy="37223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spc="-54" dirty="0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2. Install tracking &amp; learn fast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89527" y="1155362"/>
                <a:ext cx="6694298" cy="297534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42900" indent="-34290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z="1900" spc="-92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Website tracking code activated immediately.</a:t>
                </a:r>
              </a:p>
              <a:p>
                <a:pPr marL="342900" indent="-34290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z="1900" spc="-92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Visitor behavior informs issue messaging and retargeting.</a:t>
                </a:r>
              </a:p>
              <a:p>
                <a:pPr marL="342900" indent="-34290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z="1900" spc="-92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Dashboards monitor clicks, returns, video views, donations, and volunteer intent.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15136161" y="0"/>
                <a:ext cx="7341763" cy="6414403"/>
                <a:chOff x="0" y="0"/>
                <a:chExt cx="1816391" cy="1586957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0" y="0"/>
                  <a:ext cx="1816391" cy="130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391" h="1586957">
                      <a:moveTo>
                        <a:pt x="40774" y="0"/>
                      </a:moveTo>
                      <a:lnTo>
                        <a:pt x="1775617" y="0"/>
                      </a:lnTo>
                      <a:cubicBezTo>
                        <a:pt x="1786431" y="0"/>
                        <a:pt x="1796802" y="4296"/>
                        <a:pt x="1804449" y="11942"/>
                      </a:cubicBezTo>
                      <a:cubicBezTo>
                        <a:pt x="1812095" y="19589"/>
                        <a:pt x="1816391" y="29960"/>
                        <a:pt x="1816391" y="40774"/>
                      </a:cubicBezTo>
                      <a:lnTo>
                        <a:pt x="1816391" y="1546183"/>
                      </a:lnTo>
                      <a:cubicBezTo>
                        <a:pt x="1816391" y="1556997"/>
                        <a:pt x="1812095" y="1567368"/>
                        <a:pt x="1804449" y="1575015"/>
                      </a:cubicBezTo>
                      <a:cubicBezTo>
                        <a:pt x="1796802" y="1582662"/>
                        <a:pt x="1786431" y="1586957"/>
                        <a:pt x="1775617" y="1586957"/>
                      </a:cubicBezTo>
                      <a:lnTo>
                        <a:pt x="40774" y="1586957"/>
                      </a:lnTo>
                      <a:cubicBezTo>
                        <a:pt x="29960" y="1586957"/>
                        <a:pt x="19589" y="1582662"/>
                        <a:pt x="11942" y="1575015"/>
                      </a:cubicBezTo>
                      <a:cubicBezTo>
                        <a:pt x="4296" y="1567368"/>
                        <a:pt x="0" y="1556997"/>
                        <a:pt x="0" y="1546183"/>
                      </a:cubicBezTo>
                      <a:lnTo>
                        <a:pt x="0" y="40774"/>
                      </a:lnTo>
                      <a:cubicBezTo>
                        <a:pt x="0" y="29960"/>
                        <a:pt x="4296" y="19589"/>
                        <a:pt x="11942" y="11942"/>
                      </a:cubicBezTo>
                      <a:cubicBezTo>
                        <a:pt x="19589" y="4296"/>
                        <a:pt x="29960" y="0"/>
                        <a:pt x="40774" y="0"/>
                      </a:cubicBezTo>
                      <a:close/>
                    </a:path>
                  </a:pathLst>
                </a:custGeom>
                <a:solidFill>
                  <a:srgbClr val="075092"/>
                </a:solidFill>
                <a:ln w="38100" cap="rnd">
                  <a:solidFill>
                    <a:srgbClr val="D6AE5E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0" y="57150"/>
                  <a:ext cx="1816391" cy="1529807"/>
                </a:xfrm>
                <a:prstGeom prst="rect">
                  <a:avLst/>
                </a:prstGeom>
              </p:spPr>
              <p:txBody>
                <a:bodyPr lIns="40559" tIns="40559" rIns="40559" bIns="40559" rtlCol="0" anchor="ctr"/>
                <a:lstStyle/>
                <a:p>
                  <a:pPr algn="ctr">
                    <a:lnSpc>
                      <a:spcPts val="2046"/>
                    </a:lnSpc>
                  </a:pPr>
                  <a:endParaRPr/>
                </a:p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5744696" y="423044"/>
                <a:ext cx="6124688" cy="37223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294"/>
                  </a:lnSpc>
                </a:pPr>
                <a:r>
                  <a:rPr lang="en-US" sz="2100" b="1" spc="-54" dirty="0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3. Build recognition daily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545136" y="1148316"/>
                <a:ext cx="6519879" cy="29721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115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Daily posting begins with Kenda’s refreshed message and look.</a:t>
                </a:r>
              </a:p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115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Brand recall grows by zip code, generation, and issue interest.</a:t>
                </a:r>
              </a:p>
              <a:p>
                <a:pPr marL="285750" indent="-285750" algn="l">
                  <a:lnSpc>
                    <a:spcPts val="3450"/>
                  </a:lnSpc>
                  <a:buFont typeface="Arial" panose="020B0604020202020204" pitchFamily="34" charset="0"/>
                  <a:buChar char="•"/>
                </a:pPr>
                <a:r>
                  <a:rPr lang="en-US" spc="-115" dirty="0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Every channel reinforces the same Public Safety, Infrastructure, and Economic Opportunity story.</a:t>
                </a:r>
              </a:p>
            </p:txBody>
          </p:sp>
        </p:grp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468B8159-D2C1-9228-9886-8D23130BC218}"/>
                </a:ext>
              </a:extLst>
            </p:cNvPr>
            <p:cNvSpPr/>
            <p:nvPr/>
          </p:nvSpPr>
          <p:spPr>
            <a:xfrm>
              <a:off x="13482120" y="2389074"/>
              <a:ext cx="4121471" cy="5497625"/>
            </a:xfrm>
            <a:custGeom>
              <a:avLst/>
              <a:gdLst/>
              <a:ahLst/>
              <a:cxnLst/>
              <a:rect l="l" t="t" r="r" b="b"/>
              <a:pathLst>
                <a:path w="1816391" h="1586957">
                  <a:moveTo>
                    <a:pt x="40774" y="0"/>
                  </a:moveTo>
                  <a:lnTo>
                    <a:pt x="1775617" y="0"/>
                  </a:lnTo>
                  <a:cubicBezTo>
                    <a:pt x="1786431" y="0"/>
                    <a:pt x="1796802" y="4296"/>
                    <a:pt x="1804449" y="11942"/>
                  </a:cubicBezTo>
                  <a:cubicBezTo>
                    <a:pt x="1812095" y="19589"/>
                    <a:pt x="1816391" y="29960"/>
                    <a:pt x="1816391" y="40774"/>
                  </a:cubicBezTo>
                  <a:lnTo>
                    <a:pt x="1816391" y="1546183"/>
                  </a:lnTo>
                  <a:cubicBezTo>
                    <a:pt x="1816391" y="1556997"/>
                    <a:pt x="1812095" y="1567368"/>
                    <a:pt x="1804449" y="1575015"/>
                  </a:cubicBezTo>
                  <a:cubicBezTo>
                    <a:pt x="1796802" y="1582662"/>
                    <a:pt x="1786431" y="1586957"/>
                    <a:pt x="1775617" y="1586957"/>
                  </a:cubicBezTo>
                  <a:lnTo>
                    <a:pt x="40774" y="1586957"/>
                  </a:lnTo>
                  <a:cubicBezTo>
                    <a:pt x="29960" y="1586957"/>
                    <a:pt x="19589" y="1582662"/>
                    <a:pt x="11942" y="1575015"/>
                  </a:cubicBezTo>
                  <a:cubicBezTo>
                    <a:pt x="4296" y="1567368"/>
                    <a:pt x="0" y="1556997"/>
                    <a:pt x="0" y="1546183"/>
                  </a:cubicBezTo>
                  <a:lnTo>
                    <a:pt x="0" y="40774"/>
                  </a:lnTo>
                  <a:cubicBezTo>
                    <a:pt x="0" y="29960"/>
                    <a:pt x="4296" y="19589"/>
                    <a:pt x="11942" y="11942"/>
                  </a:cubicBezTo>
                  <a:cubicBezTo>
                    <a:pt x="19589" y="4296"/>
                    <a:pt x="29960" y="0"/>
                    <a:pt x="40774" y="0"/>
                  </a:cubicBezTo>
                  <a:close/>
                </a:path>
              </a:pathLst>
            </a:custGeom>
            <a:solidFill>
              <a:srgbClr val="D6AE5E"/>
            </a:solidFill>
            <a:ln w="38100" cap="rnd">
              <a:solidFill>
                <a:srgbClr val="07509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E2366EEB-C21F-62DA-9ADE-8E788E384597}"/>
                </a:ext>
              </a:extLst>
            </p:cNvPr>
            <p:cNvSpPr txBox="1"/>
            <p:nvPr/>
          </p:nvSpPr>
          <p:spPr>
            <a:xfrm>
              <a:off x="13551713" y="2828384"/>
              <a:ext cx="3972852" cy="386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100" b="1" spc="-54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Virtual Assistance + Phone</a:t>
              </a: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6E5D7246-3D93-8489-9A79-FD2B2CE9E025}"/>
                </a:ext>
              </a:extLst>
            </p:cNvPr>
            <p:cNvSpPr txBox="1"/>
            <p:nvPr/>
          </p:nvSpPr>
          <p:spPr>
            <a:xfrm>
              <a:off x="13656642" y="3599837"/>
              <a:ext cx="3762994" cy="3983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3450"/>
                </a:lnSpc>
                <a:buFont typeface="Arial" panose="020B0604020202020204" pitchFamily="34" charset="0"/>
                <a:buChar char="•"/>
              </a:pPr>
              <a:r>
                <a:rPr lang="en-US" sz="1700" spc="-9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Set up virtual assistance with a dedicated phone number to handle incoming calls, texts, and scheduling.</a:t>
              </a:r>
            </a:p>
            <a:p>
              <a:pPr marL="342900" indent="-342900">
                <a:lnSpc>
                  <a:spcPts val="3450"/>
                </a:lnSpc>
                <a:buFont typeface="Arial" panose="020B0604020202020204" pitchFamily="34" charset="0"/>
                <a:buChar char="•"/>
              </a:pPr>
              <a:r>
                <a:rPr lang="en-US" sz="1700" spc="-9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Capture voter questions, meeting requests, volunteer interest, event RSVPs, and donor follow-up needs.</a:t>
              </a:r>
            </a:p>
            <a:p>
              <a:pPr marL="342900" indent="-342900">
                <a:lnSpc>
                  <a:spcPts val="3450"/>
                </a:lnSpc>
                <a:buFont typeface="Arial" panose="020B0604020202020204" pitchFamily="34" charset="0"/>
                <a:buChar char="•"/>
              </a:pPr>
              <a:r>
                <a:rPr lang="en-US" sz="1700" spc="-92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Route conversations to the campaign team/CRM so no important contact is missed.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97901" y="8310984"/>
            <a:ext cx="6790099" cy="1976016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0" y="0"/>
                </a:moveTo>
                <a:lnTo>
                  <a:pt x="6790099" y="0"/>
                </a:lnTo>
                <a:lnTo>
                  <a:pt x="679009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60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1" y="0"/>
            <a:ext cx="6790099" cy="1663912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679009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790099" y="0"/>
                </a:lnTo>
                <a:lnTo>
                  <a:pt x="6790099" y="51435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" b="-2091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926292" y="638175"/>
            <a:ext cx="875336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975"/>
              </a:lnSpc>
            </a:pPr>
            <a:r>
              <a:rPr lang="en-US" sz="75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This Is How You Win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86971" y="1541469"/>
            <a:ext cx="9392681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2700" b="1" dirty="0">
                <a:solidFill>
                  <a:srgbClr val="0750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Message discipline + voter data + authentic service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029813"/>
            <a:ext cx="9085918" cy="4001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2300" spc="-69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• Position Kenda Tomes McClain as a trusted problem-solver and fiscally serious leader — not politics as usual.</a:t>
            </a:r>
          </a:p>
          <a:p>
            <a:pPr algn="l">
              <a:lnSpc>
                <a:spcPts val="4025"/>
              </a:lnSpc>
            </a:pPr>
            <a:r>
              <a:rPr lang="en-US" sz="2300" spc="-69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• Market the candidate with precision, backed by AI, human oversight, and a genuine record of community service.</a:t>
            </a:r>
          </a:p>
          <a:p>
            <a:pPr algn="l">
              <a:lnSpc>
                <a:spcPts val="4025"/>
              </a:lnSpc>
            </a:pPr>
            <a:r>
              <a:rPr lang="en-US" sz="2300" spc="-69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• Deliver the right message, to the right generation, in the right zip code — repeated consistently until the primary.</a:t>
            </a:r>
          </a:p>
          <a:p>
            <a:pPr algn="l">
              <a:lnSpc>
                <a:spcPts val="4025"/>
              </a:lnSpc>
            </a:pPr>
            <a:r>
              <a:rPr lang="en-US" sz="2300" spc="-69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• Use social, streaming TV, TargetText, web tracking, virtual town halls, and multilingual access to reach every Kansas City community.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97431"/>
            <a:ext cx="7897592" cy="76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000" b="1">
                <a:solidFill>
                  <a:srgbClr val="07509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winning formula is simple: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255621"/>
            <a:ext cx="9392681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700" b="1">
                <a:solidFill>
                  <a:srgbClr val="06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message discipline + voter data + authentic 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8330" y="9816529"/>
            <a:ext cx="11264651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-54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95582" y="2969706"/>
            <a:ext cx="5820164" cy="5061876"/>
            <a:chOff x="0" y="0"/>
            <a:chExt cx="7760219" cy="674916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760219" cy="6749168"/>
              <a:chOff x="0" y="0"/>
              <a:chExt cx="1919919" cy="16697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9919" cy="1669780"/>
              </a:xfrm>
              <a:custGeom>
                <a:avLst/>
                <a:gdLst/>
                <a:ahLst/>
                <a:cxnLst/>
                <a:rect l="l" t="t" r="r" b="b"/>
                <a:pathLst>
                  <a:path w="1919919" h="1669780">
                    <a:moveTo>
                      <a:pt x="38575" y="0"/>
                    </a:moveTo>
                    <a:lnTo>
                      <a:pt x="1881344" y="0"/>
                    </a:lnTo>
                    <a:cubicBezTo>
                      <a:pt x="1902649" y="0"/>
                      <a:pt x="1919919" y="17271"/>
                      <a:pt x="1919919" y="38575"/>
                    </a:cubicBezTo>
                    <a:lnTo>
                      <a:pt x="1919919" y="1631205"/>
                    </a:lnTo>
                    <a:cubicBezTo>
                      <a:pt x="1919919" y="1652509"/>
                      <a:pt x="1902649" y="1669780"/>
                      <a:pt x="1881344" y="1669780"/>
                    </a:cubicBezTo>
                    <a:lnTo>
                      <a:pt x="38575" y="1669780"/>
                    </a:lnTo>
                    <a:cubicBezTo>
                      <a:pt x="17271" y="1669780"/>
                      <a:pt x="0" y="1652509"/>
                      <a:pt x="0" y="1631205"/>
                    </a:cubicBezTo>
                    <a:lnTo>
                      <a:pt x="0" y="38575"/>
                    </a:lnTo>
                    <a:cubicBezTo>
                      <a:pt x="0" y="17271"/>
                      <a:pt x="17271" y="0"/>
                      <a:pt x="38575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57150"/>
                <a:ext cx="1919919" cy="1612630"/>
              </a:xfrm>
              <a:prstGeom prst="rect">
                <a:avLst/>
              </a:prstGeom>
            </p:spPr>
            <p:txBody>
              <a:bodyPr lIns="40559" tIns="40559" rIns="40559" bIns="40559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17766" y="607060"/>
              <a:ext cx="6124688" cy="599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60"/>
                </a:lnSpc>
              </a:pPr>
              <a:r>
                <a:rPr lang="en-US" sz="3000" b="1" spc="-60">
                  <a:solidFill>
                    <a:srgbClr val="0603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Primary Objective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074" y="1396873"/>
              <a:ext cx="6608071" cy="4749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700" spc="-135">
                  <a:solidFill>
                    <a:srgbClr val="06030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Advance Kenda through the April 2027 top-two mayoral primary by making fiscal discipline, safer neighborhoods, reliable infrastructure, and shared opportunity the campaign’s unmistakable brand.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070601" y="2176329"/>
            <a:ext cx="1490292" cy="1491535"/>
          </a:xfrm>
          <a:custGeom>
            <a:avLst/>
            <a:gdLst/>
            <a:ahLst/>
            <a:cxnLst/>
            <a:rect l="l" t="t" r="r" b="b"/>
            <a:pathLst>
              <a:path w="1490292" h="1491535">
                <a:moveTo>
                  <a:pt x="0" y="0"/>
                </a:moveTo>
                <a:lnTo>
                  <a:pt x="1490291" y="0"/>
                </a:lnTo>
                <a:lnTo>
                  <a:pt x="1490291" y="1491534"/>
                </a:lnTo>
                <a:lnTo>
                  <a:pt x="0" y="1491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6491" y="638175"/>
            <a:ext cx="1480285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75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The Candidate’s Story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6491" y="1604064"/>
            <a:ext cx="6850594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500" b="1">
                <a:solidFill>
                  <a:srgbClr val="0750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30+ years in finance and civic leadership</a:t>
            </a:r>
          </a:p>
        </p:txBody>
      </p:sp>
      <p:sp>
        <p:nvSpPr>
          <p:cNvPr id="4" name="Freeform 4"/>
          <p:cNvSpPr/>
          <p:nvPr/>
        </p:nvSpPr>
        <p:spPr>
          <a:xfrm rot="810221">
            <a:off x="-886341" y="6330164"/>
            <a:ext cx="15419875" cy="5394960"/>
          </a:xfrm>
          <a:custGeom>
            <a:avLst/>
            <a:gdLst/>
            <a:ahLst/>
            <a:cxnLst/>
            <a:rect l="l" t="t" r="r" b="b"/>
            <a:pathLst>
              <a:path w="18288000" h="5394960">
                <a:moveTo>
                  <a:pt x="0" y="0"/>
                </a:moveTo>
                <a:lnTo>
                  <a:pt x="18288000" y="0"/>
                </a:lnTo>
                <a:lnTo>
                  <a:pt x="18288000" y="5394960"/>
                </a:lnTo>
                <a:lnTo>
                  <a:pt x="0" y="5394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86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16491" y="3415251"/>
            <a:ext cx="16858443" cy="4810803"/>
            <a:chOff x="0" y="0"/>
            <a:chExt cx="22477924" cy="641440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7341763" cy="6414403"/>
              <a:chOff x="0" y="0"/>
              <a:chExt cx="1816391" cy="158695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816391" cy="1586957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586957">
                    <a:moveTo>
                      <a:pt x="40774" y="0"/>
                    </a:moveTo>
                    <a:lnTo>
                      <a:pt x="1775617" y="0"/>
                    </a:lnTo>
                    <a:cubicBezTo>
                      <a:pt x="1786431" y="0"/>
                      <a:pt x="1796802" y="4296"/>
                      <a:pt x="1804449" y="11942"/>
                    </a:cubicBezTo>
                    <a:cubicBezTo>
                      <a:pt x="1812095" y="19589"/>
                      <a:pt x="1816391" y="29960"/>
                      <a:pt x="1816391" y="40774"/>
                    </a:cubicBezTo>
                    <a:lnTo>
                      <a:pt x="1816391" y="1546183"/>
                    </a:lnTo>
                    <a:cubicBezTo>
                      <a:pt x="1816391" y="1556997"/>
                      <a:pt x="1812095" y="1567368"/>
                      <a:pt x="1804449" y="1575015"/>
                    </a:cubicBezTo>
                    <a:cubicBezTo>
                      <a:pt x="1796802" y="1582662"/>
                      <a:pt x="1786431" y="1586957"/>
                      <a:pt x="1775617" y="1586957"/>
                    </a:cubicBezTo>
                    <a:lnTo>
                      <a:pt x="40774" y="1586957"/>
                    </a:lnTo>
                    <a:cubicBezTo>
                      <a:pt x="29960" y="1586957"/>
                      <a:pt x="19589" y="1582662"/>
                      <a:pt x="11942" y="1575015"/>
                    </a:cubicBezTo>
                    <a:cubicBezTo>
                      <a:pt x="4296" y="1567368"/>
                      <a:pt x="0" y="1556997"/>
                      <a:pt x="0" y="1546183"/>
                    </a:cubicBezTo>
                    <a:lnTo>
                      <a:pt x="0" y="40774"/>
                    </a:lnTo>
                    <a:cubicBezTo>
                      <a:pt x="0" y="29960"/>
                      <a:pt x="4296" y="19589"/>
                      <a:pt x="11942" y="11942"/>
                    </a:cubicBezTo>
                    <a:cubicBezTo>
                      <a:pt x="19589" y="4296"/>
                      <a:pt x="29960" y="0"/>
                      <a:pt x="40774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57150"/>
                <a:ext cx="1816391" cy="1529807"/>
              </a:xfrm>
              <a:prstGeom prst="rect">
                <a:avLst/>
              </a:prstGeom>
            </p:spPr>
            <p:txBody>
              <a:bodyPr lIns="40559" tIns="40559" rIns="40559" bIns="40559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96122" y="651916"/>
              <a:ext cx="7149518" cy="724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2"/>
                </a:lnSpc>
              </a:pPr>
              <a:r>
                <a:rPr lang="en-US" sz="3600" b="1" spc="-36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Public Safety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40" y="1818457"/>
              <a:ext cx="6140884" cy="2691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700" spc="-8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Safer neighborhoods, faster response, community trust, and support for families affected by violence.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565797" y="0"/>
              <a:ext cx="7341763" cy="6414403"/>
              <a:chOff x="0" y="0"/>
              <a:chExt cx="1816391" cy="15869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16391" cy="1586957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586957">
                    <a:moveTo>
                      <a:pt x="40774" y="0"/>
                    </a:moveTo>
                    <a:lnTo>
                      <a:pt x="1775617" y="0"/>
                    </a:lnTo>
                    <a:cubicBezTo>
                      <a:pt x="1786431" y="0"/>
                      <a:pt x="1796802" y="4296"/>
                      <a:pt x="1804449" y="11942"/>
                    </a:cubicBezTo>
                    <a:cubicBezTo>
                      <a:pt x="1812095" y="19589"/>
                      <a:pt x="1816391" y="29960"/>
                      <a:pt x="1816391" y="40774"/>
                    </a:cubicBezTo>
                    <a:lnTo>
                      <a:pt x="1816391" y="1546183"/>
                    </a:lnTo>
                    <a:cubicBezTo>
                      <a:pt x="1816391" y="1556997"/>
                      <a:pt x="1812095" y="1567368"/>
                      <a:pt x="1804449" y="1575015"/>
                    </a:cubicBezTo>
                    <a:cubicBezTo>
                      <a:pt x="1796802" y="1582662"/>
                      <a:pt x="1786431" y="1586957"/>
                      <a:pt x="1775617" y="1586957"/>
                    </a:cubicBezTo>
                    <a:lnTo>
                      <a:pt x="40774" y="1586957"/>
                    </a:lnTo>
                    <a:cubicBezTo>
                      <a:pt x="29960" y="1586957"/>
                      <a:pt x="19589" y="1582662"/>
                      <a:pt x="11942" y="1575015"/>
                    </a:cubicBezTo>
                    <a:cubicBezTo>
                      <a:pt x="4296" y="1567368"/>
                      <a:pt x="0" y="1556997"/>
                      <a:pt x="0" y="1546183"/>
                    </a:cubicBezTo>
                    <a:lnTo>
                      <a:pt x="0" y="40774"/>
                    </a:lnTo>
                    <a:cubicBezTo>
                      <a:pt x="0" y="29960"/>
                      <a:pt x="4296" y="19589"/>
                      <a:pt x="11942" y="11942"/>
                    </a:cubicBezTo>
                    <a:cubicBezTo>
                      <a:pt x="19589" y="4296"/>
                      <a:pt x="29960" y="0"/>
                      <a:pt x="40774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57150"/>
                <a:ext cx="1816391" cy="1529807"/>
              </a:xfrm>
              <a:prstGeom prst="rect">
                <a:avLst/>
              </a:prstGeom>
            </p:spPr>
            <p:txBody>
              <a:bodyPr lIns="40559" tIns="40559" rIns="40559" bIns="40559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698168" y="651916"/>
              <a:ext cx="7077022" cy="724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2"/>
                </a:lnSpc>
              </a:pPr>
              <a:r>
                <a:rPr lang="en-US" sz="3600" b="1" spc="-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Infrastructure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63616" y="1818457"/>
              <a:ext cx="5546126" cy="2691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700" spc="-10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Reliable basic services, roads, water, transit, and neighborhood-level accountability.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5136161" y="0"/>
              <a:ext cx="7341763" cy="6414403"/>
              <a:chOff x="0" y="0"/>
              <a:chExt cx="1816391" cy="158695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816391" cy="1586957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586957">
                    <a:moveTo>
                      <a:pt x="40774" y="0"/>
                    </a:moveTo>
                    <a:lnTo>
                      <a:pt x="1775617" y="0"/>
                    </a:lnTo>
                    <a:cubicBezTo>
                      <a:pt x="1786431" y="0"/>
                      <a:pt x="1796802" y="4296"/>
                      <a:pt x="1804449" y="11942"/>
                    </a:cubicBezTo>
                    <a:cubicBezTo>
                      <a:pt x="1812095" y="19589"/>
                      <a:pt x="1816391" y="29960"/>
                      <a:pt x="1816391" y="40774"/>
                    </a:cubicBezTo>
                    <a:lnTo>
                      <a:pt x="1816391" y="1546183"/>
                    </a:lnTo>
                    <a:cubicBezTo>
                      <a:pt x="1816391" y="1556997"/>
                      <a:pt x="1812095" y="1567368"/>
                      <a:pt x="1804449" y="1575015"/>
                    </a:cubicBezTo>
                    <a:cubicBezTo>
                      <a:pt x="1796802" y="1582662"/>
                      <a:pt x="1786431" y="1586957"/>
                      <a:pt x="1775617" y="1586957"/>
                    </a:cubicBezTo>
                    <a:lnTo>
                      <a:pt x="40774" y="1586957"/>
                    </a:lnTo>
                    <a:cubicBezTo>
                      <a:pt x="29960" y="1586957"/>
                      <a:pt x="19589" y="1582662"/>
                      <a:pt x="11942" y="1575015"/>
                    </a:cubicBezTo>
                    <a:cubicBezTo>
                      <a:pt x="4296" y="1567368"/>
                      <a:pt x="0" y="1556997"/>
                      <a:pt x="0" y="1546183"/>
                    </a:cubicBezTo>
                    <a:lnTo>
                      <a:pt x="0" y="40774"/>
                    </a:lnTo>
                    <a:cubicBezTo>
                      <a:pt x="0" y="29960"/>
                      <a:pt x="4296" y="19589"/>
                      <a:pt x="11942" y="11942"/>
                    </a:cubicBezTo>
                    <a:cubicBezTo>
                      <a:pt x="19589" y="4296"/>
                      <a:pt x="29960" y="0"/>
                      <a:pt x="40774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57150"/>
                <a:ext cx="1816391" cy="1529807"/>
              </a:xfrm>
              <a:prstGeom prst="rect">
                <a:avLst/>
              </a:prstGeom>
            </p:spPr>
            <p:txBody>
              <a:bodyPr lIns="40559" tIns="40559" rIns="40559" bIns="40559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418552" y="651916"/>
              <a:ext cx="6776981" cy="724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2"/>
                </a:lnSpc>
              </a:pPr>
              <a:r>
                <a:rPr lang="en-US" sz="3600" b="1" spc="-7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Economic Opportunity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081664" y="1818457"/>
              <a:ext cx="5450757" cy="2691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700" spc="-13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Finance expertise applied to jobs, small business, cost of living, and accountable development.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132773" y="378102"/>
            <a:ext cx="2442160" cy="2444197"/>
          </a:xfrm>
          <a:custGeom>
            <a:avLst/>
            <a:gdLst/>
            <a:ahLst/>
            <a:cxnLst/>
            <a:rect l="l" t="t" r="r" b="b"/>
            <a:pathLst>
              <a:path w="2442160" h="2444197">
                <a:moveTo>
                  <a:pt x="0" y="0"/>
                </a:moveTo>
                <a:lnTo>
                  <a:pt x="2442161" y="0"/>
                </a:lnTo>
                <a:lnTo>
                  <a:pt x="2442161" y="2444196"/>
                </a:lnTo>
                <a:lnTo>
                  <a:pt x="0" y="2444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3982462" y="9267825"/>
            <a:ext cx="4184829" cy="83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 spc="-53" dirty="0">
                <a:latin typeface="Canva Sans"/>
                <a:ea typeface="Canva Sans"/>
                <a:cs typeface="Canva Sans"/>
                <a:sym typeface="Canva Sans"/>
              </a:rPr>
              <a:t>kendatomesmcclain4kc.com</a:t>
            </a:r>
          </a:p>
          <a:p>
            <a:pPr algn="ctr">
              <a:lnSpc>
                <a:spcPts val="2196"/>
              </a:lnSpc>
            </a:pPr>
            <a:r>
              <a:rPr lang="en-US" sz="1800" spc="-53" dirty="0">
                <a:latin typeface="Canva Sans"/>
                <a:ea typeface="Canva Sans"/>
                <a:cs typeface="Canva Sans"/>
                <a:sym typeface="Canva Sans"/>
              </a:rPr>
              <a:t>Primary Campaign Deliverables Only Prepared by JPP Consulting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6491" y="2185395"/>
            <a:ext cx="14233785" cy="821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Kansas City needs leadership that reflects the values of voters — leadership that values family over special interests, hates waste, and does more than give speeches.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1333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222744" y="2192020"/>
            <a:ext cx="1384250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50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Sentiment Analysis: What Greater Kansas City Thinks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59376" y="3044056"/>
            <a:ext cx="12969241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b="1" dirty="0">
                <a:solidFill>
                  <a:srgbClr val="D6AE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 Kenda’s three pillars by zip code, generation, and issue intensity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7614" y="8902192"/>
            <a:ext cx="15632773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300" b="1">
                <a:solidFill>
                  <a:srgbClr val="06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Deliverable: Greater Kansas City sentiment baseline refreshed continuously through the April 2027 primary.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45845" y="9776838"/>
            <a:ext cx="13796310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B21F46-617A-D95E-26AF-71ADCD505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295256"/>
              </p:ext>
            </p:extLst>
          </p:nvPr>
        </p:nvGraphicFramePr>
        <p:xfrm>
          <a:off x="1044802" y="3974836"/>
          <a:ext cx="16198388" cy="4231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4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784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300"/>
                        <a:t>Pillar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0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300"/>
                        <a:t>What We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0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300" dirty="0"/>
                        <a:t>How It Shapes the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8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42B2A"/>
                          </a:solidFill>
                          <a:latin typeface="Aptos"/>
                        </a:defRPr>
                      </a:pPr>
                      <a:r>
                        <a:rPr sz="1800"/>
                        <a:t>Public 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 dirty="0"/>
                        <a:t>Crime, response times, domestic violence, and neighborhood trust.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/>
                        <a:t>Frame Kenda as the disciplined, results-first leader voters can trust to make neighborhoods safer.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78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42B2A"/>
                          </a:solidFill>
                          <a:latin typeface="Aptos"/>
                        </a:defRPr>
                      </a:pPr>
                      <a:r>
                        <a:rPr sz="1800"/>
                        <a:t>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/>
                        <a:t>Roads, transit, water, and basic-service reliability across KC neighborhoods.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/>
                        <a:t>Lead with Kenda’s fix-what’s-broken competence and neighborhood accountability.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8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A42B2A"/>
                          </a:solidFill>
                          <a:latin typeface="Aptos"/>
                        </a:defRPr>
                      </a:pPr>
                      <a:r>
                        <a:rPr sz="1800"/>
                        <a:t>Economic Opportunity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/>
                        <a:t>Jobs, small business, cost of living, and development that benefits residents.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81F2B"/>
                          </a:solidFill>
                          <a:latin typeface="Aptos"/>
                        </a:defRPr>
                      </a:pPr>
                      <a:r>
                        <a:rPr sz="1800" dirty="0"/>
                        <a:t>Position Kenda’s finance expertise as the credible path to shared, accountable growth.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39840"/>
            <a:ext cx="18288000" cy="3947160"/>
          </a:xfrm>
          <a:custGeom>
            <a:avLst/>
            <a:gdLst/>
            <a:ahLst/>
            <a:cxnLst/>
            <a:rect l="l" t="t" r="r" b="b"/>
            <a:pathLst>
              <a:path w="18288000" h="3947160">
                <a:moveTo>
                  <a:pt x="0" y="0"/>
                </a:moveTo>
                <a:lnTo>
                  <a:pt x="18288000" y="0"/>
                </a:lnTo>
                <a:lnTo>
                  <a:pt x="18288000" y="3947160"/>
                </a:lnTo>
                <a:lnTo>
                  <a:pt x="0" y="394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68366" y="790343"/>
            <a:ext cx="13551268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5000" b="1" dirty="0" err="1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TargetText</a:t>
            </a:r>
            <a:r>
              <a:rPr lang="en-US" sz="5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 Strategy: </a:t>
            </a:r>
            <a:r>
              <a:rPr lang="en-US" sz="50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Up to 250,000 Text Messages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6901" y="1504656"/>
            <a:ext cx="14854198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Strategically sent based on sentiment data, voter segment, and best time to send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43997" y="7749540"/>
            <a:ext cx="1260000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5000" b="1" spc="-179" dirty="0">
                <a:solidFill>
                  <a:srgbClr val="23467A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Right message. </a:t>
            </a:r>
            <a:r>
              <a:rPr lang="en-US" sz="5000" b="1" spc="-179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Right voter. </a:t>
            </a:r>
            <a:r>
              <a:rPr lang="en-US" sz="5000" b="1" spc="-179" dirty="0">
                <a:solidFill>
                  <a:srgbClr val="23467A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Right moment.</a:t>
            </a:r>
          </a:p>
        </p:txBody>
      </p:sp>
      <p:sp>
        <p:nvSpPr>
          <p:cNvPr id="6" name="Freeform 6"/>
          <p:cNvSpPr/>
          <p:nvPr/>
        </p:nvSpPr>
        <p:spPr>
          <a:xfrm>
            <a:off x="16072644" y="181439"/>
            <a:ext cx="1841113" cy="1842649"/>
          </a:xfrm>
          <a:custGeom>
            <a:avLst/>
            <a:gdLst/>
            <a:ahLst/>
            <a:cxnLst/>
            <a:rect l="l" t="t" r="r" b="b"/>
            <a:pathLst>
              <a:path w="1841113" h="1842649">
                <a:moveTo>
                  <a:pt x="0" y="0"/>
                </a:moveTo>
                <a:lnTo>
                  <a:pt x="1841114" y="0"/>
                </a:lnTo>
                <a:lnTo>
                  <a:pt x="1841114" y="1842649"/>
                </a:lnTo>
                <a:lnTo>
                  <a:pt x="0" y="1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74242" y="2405664"/>
            <a:ext cx="17539515" cy="4721242"/>
            <a:chOff x="0" y="0"/>
            <a:chExt cx="23386020" cy="629499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600607" cy="6294990"/>
              <a:chOff x="0" y="0"/>
              <a:chExt cx="2269354" cy="187952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69354" cy="1879529"/>
              </a:xfrm>
              <a:custGeom>
                <a:avLst/>
                <a:gdLst/>
                <a:ahLst/>
                <a:cxnLst/>
                <a:rect l="l" t="t" r="r" b="b"/>
                <a:pathLst>
                  <a:path w="2269354" h="1879529">
                    <a:moveTo>
                      <a:pt x="39386" y="0"/>
                    </a:moveTo>
                    <a:lnTo>
                      <a:pt x="2229969" y="0"/>
                    </a:lnTo>
                    <a:cubicBezTo>
                      <a:pt x="2240414" y="0"/>
                      <a:pt x="2250432" y="4150"/>
                      <a:pt x="2257818" y="11536"/>
                    </a:cubicBezTo>
                    <a:cubicBezTo>
                      <a:pt x="2265205" y="18922"/>
                      <a:pt x="2269354" y="28940"/>
                      <a:pt x="2269354" y="39386"/>
                    </a:cubicBezTo>
                    <a:lnTo>
                      <a:pt x="2269354" y="1840143"/>
                    </a:lnTo>
                    <a:cubicBezTo>
                      <a:pt x="2269354" y="1861896"/>
                      <a:pt x="2251721" y="1879529"/>
                      <a:pt x="2229969" y="1879529"/>
                    </a:cubicBezTo>
                    <a:lnTo>
                      <a:pt x="39386" y="1879529"/>
                    </a:lnTo>
                    <a:cubicBezTo>
                      <a:pt x="28940" y="1879529"/>
                      <a:pt x="18922" y="1875380"/>
                      <a:pt x="11536" y="1867993"/>
                    </a:cubicBezTo>
                    <a:cubicBezTo>
                      <a:pt x="4150" y="1860607"/>
                      <a:pt x="0" y="1850589"/>
                      <a:pt x="0" y="1840143"/>
                    </a:cubicBezTo>
                    <a:lnTo>
                      <a:pt x="0" y="39386"/>
                    </a:lnTo>
                    <a:cubicBezTo>
                      <a:pt x="0" y="17634"/>
                      <a:pt x="17634" y="0"/>
                      <a:pt x="39386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57150"/>
                <a:ext cx="2269354" cy="1822379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677143" y="462260"/>
              <a:ext cx="4246322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is included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3141" y="1217431"/>
              <a:ext cx="6454325" cy="4217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Up to 250,000 text messages during the primary campaign window.</a:t>
              </a:r>
            </a:p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Segmented SMS/MMS outreach by zip code, generation, issue interest, and engagement behavior.</a:t>
              </a:r>
            </a:p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Message variants aligned to Public Safety, Infrastructure, and Economic Opportunity sentiment.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892707" y="0"/>
              <a:ext cx="7600607" cy="6294990"/>
              <a:chOff x="0" y="0"/>
              <a:chExt cx="2269354" cy="18795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69354" cy="1879529"/>
              </a:xfrm>
              <a:custGeom>
                <a:avLst/>
                <a:gdLst/>
                <a:ahLst/>
                <a:cxnLst/>
                <a:rect l="l" t="t" r="r" b="b"/>
                <a:pathLst>
                  <a:path w="2269354" h="1879529">
                    <a:moveTo>
                      <a:pt x="39386" y="0"/>
                    </a:moveTo>
                    <a:lnTo>
                      <a:pt x="2229969" y="0"/>
                    </a:lnTo>
                    <a:cubicBezTo>
                      <a:pt x="2240414" y="0"/>
                      <a:pt x="2250432" y="4150"/>
                      <a:pt x="2257818" y="11536"/>
                    </a:cubicBezTo>
                    <a:cubicBezTo>
                      <a:pt x="2265205" y="18922"/>
                      <a:pt x="2269354" y="28940"/>
                      <a:pt x="2269354" y="39386"/>
                    </a:cubicBezTo>
                    <a:lnTo>
                      <a:pt x="2269354" y="1840143"/>
                    </a:lnTo>
                    <a:cubicBezTo>
                      <a:pt x="2269354" y="1861896"/>
                      <a:pt x="2251721" y="1879529"/>
                      <a:pt x="2229969" y="1879529"/>
                    </a:cubicBezTo>
                    <a:lnTo>
                      <a:pt x="39386" y="1879529"/>
                    </a:lnTo>
                    <a:cubicBezTo>
                      <a:pt x="28940" y="1879529"/>
                      <a:pt x="18922" y="1875380"/>
                      <a:pt x="11536" y="1867993"/>
                    </a:cubicBezTo>
                    <a:cubicBezTo>
                      <a:pt x="4150" y="1860607"/>
                      <a:pt x="0" y="1850589"/>
                      <a:pt x="0" y="1840143"/>
                    </a:cubicBezTo>
                    <a:lnTo>
                      <a:pt x="0" y="39386"/>
                    </a:lnTo>
                    <a:cubicBezTo>
                      <a:pt x="0" y="17634"/>
                      <a:pt x="17634" y="0"/>
                      <a:pt x="39386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57150"/>
                <a:ext cx="2269354" cy="1822379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345556" y="1217431"/>
              <a:ext cx="6694909" cy="4217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099" spc="-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Best send windows determined by response patterns, sentiment signals, and voter behavior.</a:t>
              </a:r>
            </a:p>
            <a:p>
              <a:pPr algn="l">
                <a:lnSpc>
                  <a:spcPts val="3149"/>
                </a:lnSpc>
              </a:pPr>
              <a:r>
                <a:rPr lang="en-US" sz="2099" spc="-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A/B testing identifies strongest hooks, calls-to-action, and follow-up sequences.</a:t>
              </a:r>
            </a:p>
            <a:p>
              <a:pPr algn="l">
                <a:lnSpc>
                  <a:spcPts val="3149"/>
                </a:lnSpc>
              </a:pPr>
              <a:r>
                <a:rPr lang="en-US" sz="2099" spc="-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Texts support donations, volunteers, event turnout, video views, persuasion, and GOTV.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1278" y="462260"/>
              <a:ext cx="5923464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How sends are optimized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5785413" y="0"/>
              <a:ext cx="7600607" cy="6294990"/>
              <a:chOff x="0" y="0"/>
              <a:chExt cx="2269354" cy="187952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269354" cy="1879529"/>
              </a:xfrm>
              <a:custGeom>
                <a:avLst/>
                <a:gdLst/>
                <a:ahLst/>
                <a:cxnLst/>
                <a:rect l="l" t="t" r="r" b="b"/>
                <a:pathLst>
                  <a:path w="2269354" h="1879529">
                    <a:moveTo>
                      <a:pt x="39386" y="0"/>
                    </a:moveTo>
                    <a:lnTo>
                      <a:pt x="2229969" y="0"/>
                    </a:lnTo>
                    <a:cubicBezTo>
                      <a:pt x="2240414" y="0"/>
                      <a:pt x="2250432" y="4150"/>
                      <a:pt x="2257818" y="11536"/>
                    </a:cubicBezTo>
                    <a:cubicBezTo>
                      <a:pt x="2265205" y="18922"/>
                      <a:pt x="2269354" y="28940"/>
                      <a:pt x="2269354" y="39386"/>
                    </a:cubicBezTo>
                    <a:lnTo>
                      <a:pt x="2269354" y="1840143"/>
                    </a:lnTo>
                    <a:cubicBezTo>
                      <a:pt x="2269354" y="1861896"/>
                      <a:pt x="2251721" y="1879529"/>
                      <a:pt x="2229969" y="1879529"/>
                    </a:cubicBezTo>
                    <a:lnTo>
                      <a:pt x="39386" y="1879529"/>
                    </a:lnTo>
                    <a:cubicBezTo>
                      <a:pt x="28940" y="1879529"/>
                      <a:pt x="18922" y="1875380"/>
                      <a:pt x="11536" y="1867993"/>
                    </a:cubicBezTo>
                    <a:cubicBezTo>
                      <a:pt x="4150" y="1860607"/>
                      <a:pt x="0" y="1850589"/>
                      <a:pt x="0" y="1840143"/>
                    </a:cubicBezTo>
                    <a:lnTo>
                      <a:pt x="0" y="39386"/>
                    </a:lnTo>
                    <a:cubicBezTo>
                      <a:pt x="0" y="17634"/>
                      <a:pt x="17634" y="0"/>
                      <a:pt x="39386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57150"/>
                <a:ext cx="2269354" cy="1822379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7321397" y="462260"/>
              <a:ext cx="3910178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Human oversight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04790" y="1217431"/>
              <a:ext cx="6561854" cy="3684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Strategic review before major sends.</a:t>
              </a:r>
            </a:p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Respectful, compliant outreach with clear sender identity and opt-out handling.</a:t>
              </a:r>
            </a:p>
            <a:p>
              <a:pPr algn="l">
                <a:lnSpc>
                  <a:spcPts val="3149"/>
                </a:lnSpc>
              </a:pPr>
              <a:r>
                <a:rPr lang="en-US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Performance feedback loops refine daily social, streaming, and website retargeting.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97901" y="8310984"/>
            <a:ext cx="6790099" cy="1976016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0" y="0"/>
                </a:moveTo>
                <a:lnTo>
                  <a:pt x="6790099" y="0"/>
                </a:lnTo>
                <a:lnTo>
                  <a:pt x="679009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60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1" y="0"/>
            <a:ext cx="6790099" cy="1663912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679009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790099" y="0"/>
                </a:lnTo>
                <a:lnTo>
                  <a:pt x="6790099" y="51435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" b="-2091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778797" y="600075"/>
            <a:ext cx="1090085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80"/>
              </a:lnSpc>
            </a:pPr>
            <a:r>
              <a:rPr lang="en-US" sz="5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Streaming TV / Connected TV Advertising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7739" y="1457718"/>
            <a:ext cx="11711913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2700" b="1">
                <a:solidFill>
                  <a:srgbClr val="07509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Premium inventory, voter-file targeting, and closed-loop attribution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80498"/>
            <a:ext cx="956322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36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Available streaming environments include: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8330" y="9816529"/>
            <a:ext cx="11264651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-54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8742" y="3409668"/>
            <a:ext cx="14830516" cy="5210999"/>
            <a:chOff x="0" y="0"/>
            <a:chExt cx="19774021" cy="6947999"/>
          </a:xfrm>
        </p:grpSpPr>
        <p:grpSp>
          <p:nvGrpSpPr>
            <p:cNvPr id="9" name="Group 9"/>
            <p:cNvGrpSpPr/>
            <p:nvPr/>
          </p:nvGrpSpPr>
          <p:grpSpPr>
            <a:xfrm>
              <a:off x="70930" y="0"/>
              <a:ext cx="2652981" cy="1303610"/>
              <a:chOff x="0" y="0"/>
              <a:chExt cx="524046" cy="25750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24046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524046" h="257503">
                    <a:moveTo>
                      <a:pt x="116728" y="0"/>
                    </a:moveTo>
                    <a:lnTo>
                      <a:pt x="407318" y="0"/>
                    </a:lnTo>
                    <a:cubicBezTo>
                      <a:pt x="471785" y="0"/>
                      <a:pt x="524046" y="52261"/>
                      <a:pt x="524046" y="116728"/>
                    </a:cubicBezTo>
                    <a:lnTo>
                      <a:pt x="524046" y="140775"/>
                    </a:lnTo>
                    <a:cubicBezTo>
                      <a:pt x="524046" y="171733"/>
                      <a:pt x="511748" y="201424"/>
                      <a:pt x="489857" y="223314"/>
                    </a:cubicBezTo>
                    <a:cubicBezTo>
                      <a:pt x="467966" y="245205"/>
                      <a:pt x="438276" y="257503"/>
                      <a:pt x="407318" y="257503"/>
                    </a:cubicBezTo>
                    <a:lnTo>
                      <a:pt x="116728" y="257503"/>
                    </a:lnTo>
                    <a:cubicBezTo>
                      <a:pt x="85770" y="257503"/>
                      <a:pt x="56080" y="245205"/>
                      <a:pt x="34189" y="223314"/>
                    </a:cubicBezTo>
                    <a:cubicBezTo>
                      <a:pt x="12298" y="201424"/>
                      <a:pt x="0" y="171733"/>
                      <a:pt x="0" y="140775"/>
                    </a:cubicBezTo>
                    <a:lnTo>
                      <a:pt x="0" y="116728"/>
                    </a:lnTo>
                    <a:cubicBezTo>
                      <a:pt x="0" y="85770"/>
                      <a:pt x="12298" y="56080"/>
                      <a:pt x="34189" y="34189"/>
                    </a:cubicBezTo>
                    <a:cubicBezTo>
                      <a:pt x="56080" y="12298"/>
                      <a:pt x="85770" y="0"/>
                      <a:pt x="116728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57150"/>
                <a:ext cx="524046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365116" y="0"/>
              <a:ext cx="2652981" cy="1303610"/>
              <a:chOff x="0" y="0"/>
              <a:chExt cx="524046" cy="2575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4046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524046" h="257503">
                    <a:moveTo>
                      <a:pt x="116728" y="0"/>
                    </a:moveTo>
                    <a:lnTo>
                      <a:pt x="407318" y="0"/>
                    </a:lnTo>
                    <a:cubicBezTo>
                      <a:pt x="471785" y="0"/>
                      <a:pt x="524046" y="52261"/>
                      <a:pt x="524046" y="116728"/>
                    </a:cubicBezTo>
                    <a:lnTo>
                      <a:pt x="524046" y="140775"/>
                    </a:lnTo>
                    <a:cubicBezTo>
                      <a:pt x="524046" y="171733"/>
                      <a:pt x="511748" y="201424"/>
                      <a:pt x="489857" y="223314"/>
                    </a:cubicBezTo>
                    <a:cubicBezTo>
                      <a:pt x="467966" y="245205"/>
                      <a:pt x="438276" y="257503"/>
                      <a:pt x="407318" y="257503"/>
                    </a:cubicBezTo>
                    <a:lnTo>
                      <a:pt x="116728" y="257503"/>
                    </a:lnTo>
                    <a:cubicBezTo>
                      <a:pt x="85770" y="257503"/>
                      <a:pt x="56080" y="245205"/>
                      <a:pt x="34189" y="223314"/>
                    </a:cubicBezTo>
                    <a:cubicBezTo>
                      <a:pt x="12298" y="201424"/>
                      <a:pt x="0" y="171733"/>
                      <a:pt x="0" y="140775"/>
                    </a:cubicBezTo>
                    <a:lnTo>
                      <a:pt x="0" y="116728"/>
                    </a:lnTo>
                    <a:cubicBezTo>
                      <a:pt x="0" y="85770"/>
                      <a:pt x="12298" y="56080"/>
                      <a:pt x="34189" y="34189"/>
                    </a:cubicBezTo>
                    <a:cubicBezTo>
                      <a:pt x="56080" y="12298"/>
                      <a:pt x="85770" y="0"/>
                      <a:pt x="116728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57150"/>
                <a:ext cx="524046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53097" y="0"/>
              <a:ext cx="3186050" cy="1303610"/>
              <a:chOff x="0" y="0"/>
              <a:chExt cx="629343" cy="25750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29343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629343" h="257503">
                    <a:moveTo>
                      <a:pt x="97198" y="0"/>
                    </a:moveTo>
                    <a:lnTo>
                      <a:pt x="532145" y="0"/>
                    </a:lnTo>
                    <a:cubicBezTo>
                      <a:pt x="585826" y="0"/>
                      <a:pt x="629343" y="43517"/>
                      <a:pt x="629343" y="97198"/>
                    </a:cubicBezTo>
                    <a:lnTo>
                      <a:pt x="629343" y="160305"/>
                    </a:lnTo>
                    <a:cubicBezTo>
                      <a:pt x="629343" y="213986"/>
                      <a:pt x="585826" y="257503"/>
                      <a:pt x="532145" y="257503"/>
                    </a:cubicBezTo>
                    <a:lnTo>
                      <a:pt x="97198" y="257503"/>
                    </a:lnTo>
                    <a:cubicBezTo>
                      <a:pt x="43517" y="257503"/>
                      <a:pt x="0" y="213986"/>
                      <a:pt x="0" y="160305"/>
                    </a:cubicBezTo>
                    <a:lnTo>
                      <a:pt x="0" y="97198"/>
                    </a:lnTo>
                    <a:cubicBezTo>
                      <a:pt x="0" y="43517"/>
                      <a:pt x="43517" y="0"/>
                      <a:pt x="97198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57150"/>
                <a:ext cx="629343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474147" y="0"/>
              <a:ext cx="2652981" cy="1303610"/>
              <a:chOff x="0" y="0"/>
              <a:chExt cx="524046" cy="25750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24046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524046" h="257503">
                    <a:moveTo>
                      <a:pt x="116728" y="0"/>
                    </a:moveTo>
                    <a:lnTo>
                      <a:pt x="407318" y="0"/>
                    </a:lnTo>
                    <a:cubicBezTo>
                      <a:pt x="471785" y="0"/>
                      <a:pt x="524046" y="52261"/>
                      <a:pt x="524046" y="116728"/>
                    </a:cubicBezTo>
                    <a:lnTo>
                      <a:pt x="524046" y="140775"/>
                    </a:lnTo>
                    <a:cubicBezTo>
                      <a:pt x="524046" y="171733"/>
                      <a:pt x="511748" y="201424"/>
                      <a:pt x="489857" y="223314"/>
                    </a:cubicBezTo>
                    <a:cubicBezTo>
                      <a:pt x="467966" y="245205"/>
                      <a:pt x="438276" y="257503"/>
                      <a:pt x="407318" y="257503"/>
                    </a:cubicBezTo>
                    <a:lnTo>
                      <a:pt x="116728" y="257503"/>
                    </a:lnTo>
                    <a:cubicBezTo>
                      <a:pt x="85770" y="257503"/>
                      <a:pt x="56080" y="245205"/>
                      <a:pt x="34189" y="223314"/>
                    </a:cubicBezTo>
                    <a:cubicBezTo>
                      <a:pt x="12298" y="201424"/>
                      <a:pt x="0" y="171733"/>
                      <a:pt x="0" y="140775"/>
                    </a:cubicBezTo>
                    <a:lnTo>
                      <a:pt x="0" y="116728"/>
                    </a:lnTo>
                    <a:cubicBezTo>
                      <a:pt x="0" y="85770"/>
                      <a:pt x="12298" y="56080"/>
                      <a:pt x="34189" y="34189"/>
                    </a:cubicBezTo>
                    <a:cubicBezTo>
                      <a:pt x="56080" y="12298"/>
                      <a:pt x="85770" y="0"/>
                      <a:pt x="116728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57150"/>
                <a:ext cx="524046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762128" y="0"/>
              <a:ext cx="2652981" cy="1303610"/>
              <a:chOff x="0" y="0"/>
              <a:chExt cx="524046" cy="25750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24046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524046" h="257503">
                    <a:moveTo>
                      <a:pt x="116728" y="0"/>
                    </a:moveTo>
                    <a:lnTo>
                      <a:pt x="407318" y="0"/>
                    </a:lnTo>
                    <a:cubicBezTo>
                      <a:pt x="471785" y="0"/>
                      <a:pt x="524046" y="52261"/>
                      <a:pt x="524046" y="116728"/>
                    </a:cubicBezTo>
                    <a:lnTo>
                      <a:pt x="524046" y="140775"/>
                    </a:lnTo>
                    <a:cubicBezTo>
                      <a:pt x="524046" y="171733"/>
                      <a:pt x="511748" y="201424"/>
                      <a:pt x="489857" y="223314"/>
                    </a:cubicBezTo>
                    <a:cubicBezTo>
                      <a:pt x="467966" y="245205"/>
                      <a:pt x="438276" y="257503"/>
                      <a:pt x="407318" y="257503"/>
                    </a:cubicBezTo>
                    <a:lnTo>
                      <a:pt x="116728" y="257503"/>
                    </a:lnTo>
                    <a:cubicBezTo>
                      <a:pt x="85770" y="257503"/>
                      <a:pt x="56080" y="245205"/>
                      <a:pt x="34189" y="223314"/>
                    </a:cubicBezTo>
                    <a:cubicBezTo>
                      <a:pt x="12298" y="201424"/>
                      <a:pt x="0" y="171733"/>
                      <a:pt x="0" y="140775"/>
                    </a:cubicBezTo>
                    <a:lnTo>
                      <a:pt x="0" y="116728"/>
                    </a:lnTo>
                    <a:cubicBezTo>
                      <a:pt x="0" y="85770"/>
                      <a:pt x="12298" y="56080"/>
                      <a:pt x="34189" y="34189"/>
                    </a:cubicBezTo>
                    <a:cubicBezTo>
                      <a:pt x="56080" y="12298"/>
                      <a:pt x="85770" y="0"/>
                      <a:pt x="116728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57150"/>
                <a:ext cx="524046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7050109" y="0"/>
              <a:ext cx="2652981" cy="1303610"/>
              <a:chOff x="0" y="0"/>
              <a:chExt cx="524046" cy="25750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24046" cy="257503"/>
              </a:xfrm>
              <a:custGeom>
                <a:avLst/>
                <a:gdLst/>
                <a:ahLst/>
                <a:cxnLst/>
                <a:rect l="l" t="t" r="r" b="b"/>
                <a:pathLst>
                  <a:path w="524046" h="257503">
                    <a:moveTo>
                      <a:pt x="116728" y="0"/>
                    </a:moveTo>
                    <a:lnTo>
                      <a:pt x="407318" y="0"/>
                    </a:lnTo>
                    <a:cubicBezTo>
                      <a:pt x="471785" y="0"/>
                      <a:pt x="524046" y="52261"/>
                      <a:pt x="524046" y="116728"/>
                    </a:cubicBezTo>
                    <a:lnTo>
                      <a:pt x="524046" y="140775"/>
                    </a:lnTo>
                    <a:cubicBezTo>
                      <a:pt x="524046" y="171733"/>
                      <a:pt x="511748" y="201424"/>
                      <a:pt x="489857" y="223314"/>
                    </a:cubicBezTo>
                    <a:cubicBezTo>
                      <a:pt x="467966" y="245205"/>
                      <a:pt x="438276" y="257503"/>
                      <a:pt x="407318" y="257503"/>
                    </a:cubicBezTo>
                    <a:lnTo>
                      <a:pt x="116728" y="257503"/>
                    </a:lnTo>
                    <a:cubicBezTo>
                      <a:pt x="85770" y="257503"/>
                      <a:pt x="56080" y="245205"/>
                      <a:pt x="34189" y="223314"/>
                    </a:cubicBezTo>
                    <a:cubicBezTo>
                      <a:pt x="12298" y="201424"/>
                      <a:pt x="0" y="171733"/>
                      <a:pt x="0" y="140775"/>
                    </a:cubicBezTo>
                    <a:lnTo>
                      <a:pt x="0" y="116728"/>
                    </a:lnTo>
                    <a:cubicBezTo>
                      <a:pt x="0" y="85770"/>
                      <a:pt x="12298" y="56080"/>
                      <a:pt x="34189" y="34189"/>
                    </a:cubicBezTo>
                    <a:cubicBezTo>
                      <a:pt x="56080" y="12298"/>
                      <a:pt x="85770" y="0"/>
                      <a:pt x="116728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57150"/>
                <a:ext cx="524046" cy="2003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17455" y="373802"/>
              <a:ext cx="1559933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Hulu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6827" y="373802"/>
              <a:ext cx="2109559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Peacock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14746" y="373802"/>
              <a:ext cx="2862752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Paramount+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33120" y="373802"/>
              <a:ext cx="1735035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ESPN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221101" y="373802"/>
              <a:ext cx="1735035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Sling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09082" y="373802"/>
              <a:ext cx="1735035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06030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500+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0" y="1760810"/>
              <a:ext cx="6458612" cy="5187189"/>
              <a:chOff x="0" y="0"/>
              <a:chExt cx="1816391" cy="145882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816391" cy="1458822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458822">
                    <a:moveTo>
                      <a:pt x="46350" y="0"/>
                    </a:moveTo>
                    <a:lnTo>
                      <a:pt x="1770042" y="0"/>
                    </a:lnTo>
                    <a:cubicBezTo>
                      <a:pt x="1795640" y="0"/>
                      <a:pt x="1816391" y="20751"/>
                      <a:pt x="1816391" y="46350"/>
                    </a:cubicBezTo>
                    <a:lnTo>
                      <a:pt x="1816391" y="1412472"/>
                    </a:lnTo>
                    <a:cubicBezTo>
                      <a:pt x="1816391" y="1438071"/>
                      <a:pt x="1795640" y="1458822"/>
                      <a:pt x="1770042" y="1458822"/>
                    </a:cubicBezTo>
                    <a:lnTo>
                      <a:pt x="46350" y="1458822"/>
                    </a:lnTo>
                    <a:cubicBezTo>
                      <a:pt x="20751" y="1458822"/>
                      <a:pt x="0" y="1438071"/>
                      <a:pt x="0" y="1412472"/>
                    </a:cubicBezTo>
                    <a:lnTo>
                      <a:pt x="0" y="46350"/>
                    </a:lnTo>
                    <a:cubicBezTo>
                      <a:pt x="0" y="20751"/>
                      <a:pt x="20751" y="0"/>
                      <a:pt x="46350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57150"/>
                <a:ext cx="1816391" cy="1401672"/>
              </a:xfrm>
              <a:prstGeom prst="rect">
                <a:avLst/>
              </a:prstGeom>
            </p:spPr>
            <p:txBody>
              <a:bodyPr lIns="35680" tIns="35680" rIns="35680" bIns="3568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84560" y="2324781"/>
              <a:ext cx="6289492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 spc="-27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Precision Targeting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1267" y="3145207"/>
              <a:ext cx="5556077" cy="280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299" spc="-6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Age, income, homeownership, language, party, and interest.</a:t>
              </a:r>
            </a:p>
            <a:p>
              <a:pPr algn="l">
                <a:lnSpc>
                  <a:spcPts val="3449"/>
                </a:lnSpc>
              </a:pPr>
              <a:r>
                <a:rPr lang="en-US" sz="2299" spc="-6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Matched to voter-file segments and website engagement.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655696" y="1760810"/>
              <a:ext cx="6458612" cy="5187189"/>
              <a:chOff x="0" y="0"/>
              <a:chExt cx="1816391" cy="145882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816391" cy="1458822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458822">
                    <a:moveTo>
                      <a:pt x="46350" y="0"/>
                    </a:moveTo>
                    <a:lnTo>
                      <a:pt x="1770042" y="0"/>
                    </a:lnTo>
                    <a:cubicBezTo>
                      <a:pt x="1795640" y="0"/>
                      <a:pt x="1816391" y="20751"/>
                      <a:pt x="1816391" y="46350"/>
                    </a:cubicBezTo>
                    <a:lnTo>
                      <a:pt x="1816391" y="1412472"/>
                    </a:lnTo>
                    <a:cubicBezTo>
                      <a:pt x="1816391" y="1438071"/>
                      <a:pt x="1795640" y="1458822"/>
                      <a:pt x="1770042" y="1458822"/>
                    </a:cubicBezTo>
                    <a:lnTo>
                      <a:pt x="46350" y="1458822"/>
                    </a:lnTo>
                    <a:cubicBezTo>
                      <a:pt x="20751" y="1458822"/>
                      <a:pt x="0" y="1438071"/>
                      <a:pt x="0" y="1412472"/>
                    </a:cubicBezTo>
                    <a:lnTo>
                      <a:pt x="0" y="46350"/>
                    </a:lnTo>
                    <a:cubicBezTo>
                      <a:pt x="0" y="20751"/>
                      <a:pt x="20751" y="0"/>
                      <a:pt x="46350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57150"/>
                <a:ext cx="1816391" cy="1401672"/>
              </a:xfrm>
              <a:prstGeom prst="rect">
                <a:avLst/>
              </a:prstGeom>
            </p:spPr>
            <p:txBody>
              <a:bodyPr lIns="35680" tIns="35680" rIns="35680" bIns="3568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6772144" y="2296626"/>
              <a:ext cx="622571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 spc="-5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Closed-Loop Attribution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5847" y="3145207"/>
              <a:ext cx="4818309" cy="280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299" spc="-9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Track which voters saw ads and then visited the campaign website.</a:t>
              </a:r>
            </a:p>
            <a:p>
              <a:pPr algn="l">
                <a:lnSpc>
                  <a:spcPts val="3449"/>
                </a:lnSpc>
              </a:pPr>
              <a:r>
                <a:rPr lang="en-US" sz="2299" spc="-9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Use results to refine social, text, and web messaging.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3315409" y="1760810"/>
              <a:ext cx="6458612" cy="5187189"/>
              <a:chOff x="0" y="0"/>
              <a:chExt cx="1816391" cy="145882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816391" cy="1458822"/>
              </a:xfrm>
              <a:custGeom>
                <a:avLst/>
                <a:gdLst/>
                <a:ahLst/>
                <a:cxnLst/>
                <a:rect l="l" t="t" r="r" b="b"/>
                <a:pathLst>
                  <a:path w="1816391" h="1458822">
                    <a:moveTo>
                      <a:pt x="46350" y="0"/>
                    </a:moveTo>
                    <a:lnTo>
                      <a:pt x="1770042" y="0"/>
                    </a:lnTo>
                    <a:cubicBezTo>
                      <a:pt x="1795640" y="0"/>
                      <a:pt x="1816391" y="20751"/>
                      <a:pt x="1816391" y="46350"/>
                    </a:cubicBezTo>
                    <a:lnTo>
                      <a:pt x="1816391" y="1412472"/>
                    </a:lnTo>
                    <a:cubicBezTo>
                      <a:pt x="1816391" y="1438071"/>
                      <a:pt x="1795640" y="1458822"/>
                      <a:pt x="1770042" y="1458822"/>
                    </a:cubicBezTo>
                    <a:lnTo>
                      <a:pt x="46350" y="1458822"/>
                    </a:lnTo>
                    <a:cubicBezTo>
                      <a:pt x="20751" y="1458822"/>
                      <a:pt x="0" y="1438071"/>
                      <a:pt x="0" y="1412472"/>
                    </a:cubicBezTo>
                    <a:lnTo>
                      <a:pt x="0" y="46350"/>
                    </a:lnTo>
                    <a:cubicBezTo>
                      <a:pt x="0" y="20751"/>
                      <a:pt x="20751" y="0"/>
                      <a:pt x="46350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57150"/>
                <a:ext cx="1816391" cy="1401672"/>
              </a:xfrm>
              <a:prstGeom prst="rect">
                <a:avLst/>
              </a:prstGeom>
            </p:spPr>
            <p:txBody>
              <a:bodyPr lIns="35680" tIns="35680" rIns="35680" bIns="3568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3850745" y="2324781"/>
              <a:ext cx="5387940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699" b="1" spc="-53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AI-Generated Video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120702" y="3145207"/>
              <a:ext cx="4848026" cy="280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9"/>
                </a:lnSpc>
              </a:pPr>
              <a:r>
                <a:rPr lang="en-US" sz="2299" spc="-11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Rapid production and iteration.</a:t>
              </a:r>
            </a:p>
            <a:p>
              <a:pPr algn="l">
                <a:lnSpc>
                  <a:spcPts val="3449"/>
                </a:lnSpc>
              </a:pPr>
              <a:r>
                <a:rPr lang="en-US" sz="2299" spc="-11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Creative updated as sentiment shifts and campaign moments emerge.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73713" y="4910657"/>
            <a:ext cx="5571005" cy="2237214"/>
            <a:chOff x="0" y="0"/>
            <a:chExt cx="2217820" cy="890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7820" cy="890636"/>
            </a:xfrm>
            <a:custGeom>
              <a:avLst/>
              <a:gdLst/>
              <a:ahLst/>
              <a:cxnLst/>
              <a:rect l="l" t="t" r="r" b="b"/>
              <a:pathLst>
                <a:path w="2217820" h="890636">
                  <a:moveTo>
                    <a:pt x="40301" y="0"/>
                  </a:moveTo>
                  <a:lnTo>
                    <a:pt x="2177519" y="0"/>
                  </a:lnTo>
                  <a:cubicBezTo>
                    <a:pt x="2199777" y="0"/>
                    <a:pt x="2217820" y="18043"/>
                    <a:pt x="2217820" y="40301"/>
                  </a:cubicBezTo>
                  <a:lnTo>
                    <a:pt x="2217820" y="850335"/>
                  </a:lnTo>
                  <a:cubicBezTo>
                    <a:pt x="2217820" y="861024"/>
                    <a:pt x="2213574" y="871274"/>
                    <a:pt x="2206016" y="878832"/>
                  </a:cubicBezTo>
                  <a:cubicBezTo>
                    <a:pt x="2198458" y="886390"/>
                    <a:pt x="2188208" y="890636"/>
                    <a:pt x="2177519" y="890636"/>
                  </a:cubicBezTo>
                  <a:lnTo>
                    <a:pt x="40301" y="890636"/>
                  </a:lnTo>
                  <a:cubicBezTo>
                    <a:pt x="18043" y="890636"/>
                    <a:pt x="0" y="872593"/>
                    <a:pt x="0" y="850335"/>
                  </a:cubicBezTo>
                  <a:lnTo>
                    <a:pt x="0" y="40301"/>
                  </a:lnTo>
                  <a:cubicBezTo>
                    <a:pt x="0" y="29612"/>
                    <a:pt x="4246" y="19362"/>
                    <a:pt x="11804" y="11804"/>
                  </a:cubicBezTo>
                  <a:cubicBezTo>
                    <a:pt x="19362" y="4246"/>
                    <a:pt x="29612" y="0"/>
                    <a:pt x="40301" y="0"/>
                  </a:cubicBezTo>
                  <a:close/>
                </a:path>
              </a:pathLst>
            </a:custGeom>
            <a:solidFill>
              <a:srgbClr val="D6AE5E"/>
            </a:solidFill>
            <a:ln w="38100" cap="rnd">
              <a:solidFill>
                <a:srgbClr val="07509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217820" cy="833486"/>
            </a:xfrm>
            <a:prstGeom prst="rect">
              <a:avLst/>
            </a:prstGeom>
          </p:spPr>
          <p:txBody>
            <a:bodyPr lIns="33608" tIns="33608" rIns="33608" bIns="33608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339840"/>
            <a:ext cx="18288000" cy="3947160"/>
          </a:xfrm>
          <a:custGeom>
            <a:avLst/>
            <a:gdLst/>
            <a:ahLst/>
            <a:cxnLst/>
            <a:rect l="l" t="t" r="r" b="b"/>
            <a:pathLst>
              <a:path w="18288000" h="3947160">
                <a:moveTo>
                  <a:pt x="0" y="0"/>
                </a:moveTo>
                <a:lnTo>
                  <a:pt x="18288000" y="0"/>
                </a:lnTo>
                <a:lnTo>
                  <a:pt x="18288000" y="3947160"/>
                </a:lnTo>
                <a:lnTo>
                  <a:pt x="0" y="394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41972" y="2405664"/>
            <a:ext cx="5571005" cy="2237214"/>
            <a:chOff x="0" y="0"/>
            <a:chExt cx="7428007" cy="298295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428007" cy="2982952"/>
              <a:chOff x="0" y="0"/>
              <a:chExt cx="2217820" cy="8906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7820" cy="890636"/>
              </a:xfrm>
              <a:custGeom>
                <a:avLst/>
                <a:gdLst/>
                <a:ahLst/>
                <a:cxnLst/>
                <a:rect l="l" t="t" r="r" b="b"/>
                <a:pathLst>
                  <a:path w="2217820" h="890636">
                    <a:moveTo>
                      <a:pt x="40301" y="0"/>
                    </a:moveTo>
                    <a:lnTo>
                      <a:pt x="2177519" y="0"/>
                    </a:lnTo>
                    <a:cubicBezTo>
                      <a:pt x="2199777" y="0"/>
                      <a:pt x="2217820" y="18043"/>
                      <a:pt x="2217820" y="40301"/>
                    </a:cubicBezTo>
                    <a:lnTo>
                      <a:pt x="2217820" y="850335"/>
                    </a:lnTo>
                    <a:cubicBezTo>
                      <a:pt x="2217820" y="861024"/>
                      <a:pt x="2213574" y="871274"/>
                      <a:pt x="2206016" y="878832"/>
                    </a:cubicBezTo>
                    <a:cubicBezTo>
                      <a:pt x="2198458" y="886390"/>
                      <a:pt x="2188208" y="890636"/>
                      <a:pt x="2177519" y="890636"/>
                    </a:cubicBezTo>
                    <a:lnTo>
                      <a:pt x="40301" y="890636"/>
                    </a:lnTo>
                    <a:cubicBezTo>
                      <a:pt x="18043" y="890636"/>
                      <a:pt x="0" y="872593"/>
                      <a:pt x="0" y="850335"/>
                    </a:cubicBezTo>
                    <a:lnTo>
                      <a:pt x="0" y="40301"/>
                    </a:lnTo>
                    <a:cubicBezTo>
                      <a:pt x="0" y="29612"/>
                      <a:pt x="4246" y="19362"/>
                      <a:pt x="11804" y="11804"/>
                    </a:cubicBezTo>
                    <a:cubicBezTo>
                      <a:pt x="19362" y="4246"/>
                      <a:pt x="29612" y="0"/>
                      <a:pt x="40301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57150"/>
                <a:ext cx="2217820" cy="833486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66300" y="292156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Data &amp; AI Sentiment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590" y="1000715"/>
              <a:ext cx="6362826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Zip-code-level analysis, pillar sentiment, opponent-field monitoring, message refinement.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26279" y="743990"/>
            <a:ext cx="1023544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sz="75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Winning Strategy &amp; Services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6901" y="1601240"/>
            <a:ext cx="14854198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full primary campaign delivery engine</a:t>
            </a:r>
          </a:p>
        </p:txBody>
      </p:sp>
      <p:sp>
        <p:nvSpPr>
          <p:cNvPr id="14" name="Freeform 14"/>
          <p:cNvSpPr/>
          <p:nvPr/>
        </p:nvSpPr>
        <p:spPr>
          <a:xfrm>
            <a:off x="8223443" y="7538397"/>
            <a:ext cx="1841113" cy="1842649"/>
          </a:xfrm>
          <a:custGeom>
            <a:avLst/>
            <a:gdLst/>
            <a:ahLst/>
            <a:cxnLst/>
            <a:rect l="l" t="t" r="r" b="b"/>
            <a:pathLst>
              <a:path w="1841113" h="1842649">
                <a:moveTo>
                  <a:pt x="0" y="0"/>
                </a:moveTo>
                <a:lnTo>
                  <a:pt x="1841114" y="0"/>
                </a:lnTo>
                <a:lnTo>
                  <a:pt x="1841114" y="1842649"/>
                </a:lnTo>
                <a:lnTo>
                  <a:pt x="0" y="1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6358497" y="2405664"/>
            <a:ext cx="5571005" cy="2237214"/>
            <a:chOff x="0" y="0"/>
            <a:chExt cx="7428007" cy="298295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7428007" cy="2982952"/>
              <a:chOff x="0" y="0"/>
              <a:chExt cx="2217820" cy="89063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217820" cy="890636"/>
              </a:xfrm>
              <a:custGeom>
                <a:avLst/>
                <a:gdLst/>
                <a:ahLst/>
                <a:cxnLst/>
                <a:rect l="l" t="t" r="r" b="b"/>
                <a:pathLst>
                  <a:path w="2217820" h="890636">
                    <a:moveTo>
                      <a:pt x="40301" y="0"/>
                    </a:moveTo>
                    <a:lnTo>
                      <a:pt x="2177519" y="0"/>
                    </a:lnTo>
                    <a:cubicBezTo>
                      <a:pt x="2199777" y="0"/>
                      <a:pt x="2217820" y="18043"/>
                      <a:pt x="2217820" y="40301"/>
                    </a:cubicBezTo>
                    <a:lnTo>
                      <a:pt x="2217820" y="850335"/>
                    </a:lnTo>
                    <a:cubicBezTo>
                      <a:pt x="2217820" y="861024"/>
                      <a:pt x="2213574" y="871274"/>
                      <a:pt x="2206016" y="878832"/>
                    </a:cubicBezTo>
                    <a:cubicBezTo>
                      <a:pt x="2198458" y="886390"/>
                      <a:pt x="2188208" y="890636"/>
                      <a:pt x="2177519" y="890636"/>
                    </a:cubicBezTo>
                    <a:lnTo>
                      <a:pt x="40301" y="890636"/>
                    </a:lnTo>
                    <a:cubicBezTo>
                      <a:pt x="18043" y="890636"/>
                      <a:pt x="0" y="872593"/>
                      <a:pt x="0" y="850335"/>
                    </a:cubicBezTo>
                    <a:lnTo>
                      <a:pt x="0" y="40301"/>
                    </a:lnTo>
                    <a:cubicBezTo>
                      <a:pt x="0" y="29612"/>
                      <a:pt x="4246" y="19362"/>
                      <a:pt x="11804" y="11804"/>
                    </a:cubicBezTo>
                    <a:cubicBezTo>
                      <a:pt x="19362" y="4246"/>
                      <a:pt x="29612" y="0"/>
                      <a:pt x="40301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57150"/>
                <a:ext cx="2217820" cy="833486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66300" y="292156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Website Tracking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590" y="1000715"/>
              <a:ext cx="6362826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Revamped site, tracking code, engagement measurement, retargeting audiences.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72403" y="2405664"/>
            <a:ext cx="5571005" cy="2237214"/>
            <a:chOff x="0" y="0"/>
            <a:chExt cx="7428007" cy="298295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428007" cy="2982952"/>
              <a:chOff x="0" y="0"/>
              <a:chExt cx="2217820" cy="89063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217820" cy="890636"/>
              </a:xfrm>
              <a:custGeom>
                <a:avLst/>
                <a:gdLst/>
                <a:ahLst/>
                <a:cxnLst/>
                <a:rect l="l" t="t" r="r" b="b"/>
                <a:pathLst>
                  <a:path w="2217820" h="890636">
                    <a:moveTo>
                      <a:pt x="40301" y="0"/>
                    </a:moveTo>
                    <a:lnTo>
                      <a:pt x="2177519" y="0"/>
                    </a:lnTo>
                    <a:cubicBezTo>
                      <a:pt x="2199777" y="0"/>
                      <a:pt x="2217820" y="18043"/>
                      <a:pt x="2217820" y="40301"/>
                    </a:cubicBezTo>
                    <a:lnTo>
                      <a:pt x="2217820" y="850335"/>
                    </a:lnTo>
                    <a:cubicBezTo>
                      <a:pt x="2217820" y="861024"/>
                      <a:pt x="2213574" y="871274"/>
                      <a:pt x="2206016" y="878832"/>
                    </a:cubicBezTo>
                    <a:cubicBezTo>
                      <a:pt x="2198458" y="886390"/>
                      <a:pt x="2188208" y="890636"/>
                      <a:pt x="2177519" y="890636"/>
                    </a:cubicBezTo>
                    <a:lnTo>
                      <a:pt x="40301" y="890636"/>
                    </a:lnTo>
                    <a:cubicBezTo>
                      <a:pt x="18043" y="890636"/>
                      <a:pt x="0" y="872593"/>
                      <a:pt x="0" y="850335"/>
                    </a:cubicBezTo>
                    <a:lnTo>
                      <a:pt x="0" y="40301"/>
                    </a:lnTo>
                    <a:cubicBezTo>
                      <a:pt x="0" y="29612"/>
                      <a:pt x="4246" y="19362"/>
                      <a:pt x="11804" y="11804"/>
                    </a:cubicBezTo>
                    <a:cubicBezTo>
                      <a:pt x="19362" y="4246"/>
                      <a:pt x="29612" y="0"/>
                      <a:pt x="40301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57150"/>
                <a:ext cx="2217820" cy="833486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66300" y="292156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TargetText + Voicemail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590" y="1000715"/>
              <a:ext cx="6362826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Up to 250,000 strategic texts, MMS, segmented follow-ups, ringless voicemail drops.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3282" y="4910657"/>
            <a:ext cx="5571005" cy="2237214"/>
            <a:chOff x="0" y="0"/>
            <a:chExt cx="7428007" cy="298295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428007" cy="2982952"/>
              <a:chOff x="0" y="0"/>
              <a:chExt cx="2217820" cy="89063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217820" cy="890636"/>
              </a:xfrm>
              <a:custGeom>
                <a:avLst/>
                <a:gdLst/>
                <a:ahLst/>
                <a:cxnLst/>
                <a:rect l="l" t="t" r="r" b="b"/>
                <a:pathLst>
                  <a:path w="2217820" h="890636">
                    <a:moveTo>
                      <a:pt x="40301" y="0"/>
                    </a:moveTo>
                    <a:lnTo>
                      <a:pt x="2177519" y="0"/>
                    </a:lnTo>
                    <a:cubicBezTo>
                      <a:pt x="2199777" y="0"/>
                      <a:pt x="2217820" y="18043"/>
                      <a:pt x="2217820" y="40301"/>
                    </a:cubicBezTo>
                    <a:lnTo>
                      <a:pt x="2217820" y="850335"/>
                    </a:lnTo>
                    <a:cubicBezTo>
                      <a:pt x="2217820" y="861024"/>
                      <a:pt x="2213574" y="871274"/>
                      <a:pt x="2206016" y="878832"/>
                    </a:cubicBezTo>
                    <a:cubicBezTo>
                      <a:pt x="2198458" y="886390"/>
                      <a:pt x="2188208" y="890636"/>
                      <a:pt x="2177519" y="890636"/>
                    </a:cubicBezTo>
                    <a:lnTo>
                      <a:pt x="40301" y="890636"/>
                    </a:lnTo>
                    <a:cubicBezTo>
                      <a:pt x="18043" y="890636"/>
                      <a:pt x="0" y="872593"/>
                      <a:pt x="0" y="850335"/>
                    </a:cubicBezTo>
                    <a:lnTo>
                      <a:pt x="0" y="40301"/>
                    </a:lnTo>
                    <a:cubicBezTo>
                      <a:pt x="0" y="29612"/>
                      <a:pt x="4246" y="19362"/>
                      <a:pt x="11804" y="11804"/>
                    </a:cubicBezTo>
                    <a:cubicBezTo>
                      <a:pt x="19362" y="4246"/>
                      <a:pt x="29612" y="0"/>
                      <a:pt x="40301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57150"/>
                <a:ext cx="2217820" cy="833486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66300" y="292156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Streaming TV / CTV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590" y="1000715"/>
              <a:ext cx="6362826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Premium streaming placements, voter-file targeting, website attribution.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59807" y="4910657"/>
            <a:ext cx="5571005" cy="2237214"/>
            <a:chOff x="0" y="0"/>
            <a:chExt cx="7428007" cy="2982952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7428007" cy="2982952"/>
              <a:chOff x="0" y="0"/>
              <a:chExt cx="2217820" cy="8906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217820" cy="890636"/>
              </a:xfrm>
              <a:custGeom>
                <a:avLst/>
                <a:gdLst/>
                <a:ahLst/>
                <a:cxnLst/>
                <a:rect l="l" t="t" r="r" b="b"/>
                <a:pathLst>
                  <a:path w="2217820" h="890636">
                    <a:moveTo>
                      <a:pt x="40301" y="0"/>
                    </a:moveTo>
                    <a:lnTo>
                      <a:pt x="2177519" y="0"/>
                    </a:lnTo>
                    <a:cubicBezTo>
                      <a:pt x="2199777" y="0"/>
                      <a:pt x="2217820" y="18043"/>
                      <a:pt x="2217820" y="40301"/>
                    </a:cubicBezTo>
                    <a:lnTo>
                      <a:pt x="2217820" y="850335"/>
                    </a:lnTo>
                    <a:cubicBezTo>
                      <a:pt x="2217820" y="861024"/>
                      <a:pt x="2213574" y="871274"/>
                      <a:pt x="2206016" y="878832"/>
                    </a:cubicBezTo>
                    <a:cubicBezTo>
                      <a:pt x="2198458" y="886390"/>
                      <a:pt x="2188208" y="890636"/>
                      <a:pt x="2177519" y="890636"/>
                    </a:cubicBezTo>
                    <a:lnTo>
                      <a:pt x="40301" y="890636"/>
                    </a:lnTo>
                    <a:cubicBezTo>
                      <a:pt x="18043" y="890636"/>
                      <a:pt x="0" y="872593"/>
                      <a:pt x="0" y="850335"/>
                    </a:cubicBezTo>
                    <a:lnTo>
                      <a:pt x="0" y="40301"/>
                    </a:lnTo>
                    <a:cubicBezTo>
                      <a:pt x="0" y="29612"/>
                      <a:pt x="4246" y="19362"/>
                      <a:pt x="11804" y="11804"/>
                    </a:cubicBezTo>
                    <a:cubicBezTo>
                      <a:pt x="19362" y="4246"/>
                      <a:pt x="29612" y="0"/>
                      <a:pt x="40301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57150"/>
                <a:ext cx="2217820" cy="833486"/>
              </a:xfrm>
              <a:prstGeom prst="rect">
                <a:avLst/>
              </a:prstGeom>
            </p:spPr>
            <p:txBody>
              <a:bodyPr lIns="33608" tIns="33608" rIns="33608" bIns="33608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66300" y="292156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 Daily Social Posting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2590" y="1000715"/>
              <a:ext cx="6362826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Facebook, Instagram, TikTok, LinkedIn content aligned to the brand and daily insights.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473434" y="5136919"/>
            <a:ext cx="5171563" cy="1705781"/>
            <a:chOff x="0" y="0"/>
            <a:chExt cx="6895417" cy="2274375"/>
          </a:xfrm>
        </p:grpSpPr>
        <p:sp>
          <p:nvSpPr>
            <p:cNvPr id="40" name="TextBox 40"/>
            <p:cNvSpPr txBox="1"/>
            <p:nvPr/>
          </p:nvSpPr>
          <p:spPr>
            <a:xfrm>
              <a:off x="200005" y="-9525"/>
              <a:ext cx="6495406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3"/>
                </a:lnSpc>
              </a:pPr>
              <a:r>
                <a:rPr lang="en-US" sz="2699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6. Community Access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610040"/>
              <a:ext cx="6895417" cy="1664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Virtual town halls, multilingual reach, and ongoing voter engagement across KC communities.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97901" y="8310984"/>
            <a:ext cx="6790099" cy="1976016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0" y="0"/>
                </a:moveTo>
                <a:lnTo>
                  <a:pt x="6790099" y="0"/>
                </a:lnTo>
                <a:lnTo>
                  <a:pt x="679009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602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1" y="0"/>
            <a:ext cx="6790099" cy="1663912"/>
          </a:xfrm>
          <a:custGeom>
            <a:avLst/>
            <a:gdLst/>
            <a:ahLst/>
            <a:cxnLst/>
            <a:rect l="l" t="t" r="r" b="b"/>
            <a:pathLst>
              <a:path w="6790099" h="5143500">
                <a:moveTo>
                  <a:pt x="679009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790099" y="0"/>
                </a:lnTo>
                <a:lnTo>
                  <a:pt x="6790099" y="51435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" b="-2091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99224" y="1273387"/>
            <a:ext cx="10889553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5"/>
              </a:lnSpc>
            </a:pPr>
            <a:r>
              <a:rPr lang="en-US" sz="7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Service Delivery Timeline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76919" y="3590614"/>
            <a:ext cx="780261" cy="7802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30820" y="4636497"/>
            <a:ext cx="780261" cy="7802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76919" y="5807463"/>
            <a:ext cx="780261" cy="78026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30820" y="6928397"/>
            <a:ext cx="780261" cy="7802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2794" y="8026000"/>
            <a:ext cx="780261" cy="78026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A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6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672794" y="3656425"/>
            <a:ext cx="588512" cy="6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96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26695" y="4688278"/>
            <a:ext cx="588512" cy="6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96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72794" y="5845214"/>
            <a:ext cx="588512" cy="6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96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26695" y="6981808"/>
            <a:ext cx="588512" cy="6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96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68669" y="8110861"/>
            <a:ext cx="588512" cy="6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96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357180" y="3980744"/>
            <a:ext cx="1573640" cy="1045884"/>
          </a:xfrm>
          <a:prstGeom prst="line">
            <a:avLst/>
          </a:prstGeom>
          <a:ln w="38100" cap="flat">
            <a:solidFill>
              <a:srgbClr val="0075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8357180" y="6197594"/>
            <a:ext cx="1573640" cy="1120933"/>
          </a:xfrm>
          <a:prstGeom prst="line">
            <a:avLst/>
          </a:prstGeom>
          <a:ln w="38100" cap="flat">
            <a:solidFill>
              <a:srgbClr val="0075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8357180" y="5026628"/>
            <a:ext cx="1573640" cy="1170966"/>
          </a:xfrm>
          <a:prstGeom prst="line">
            <a:avLst/>
          </a:prstGeom>
          <a:ln w="38100" cap="flat">
            <a:solidFill>
              <a:srgbClr val="0075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 flipV="1">
            <a:off x="8453055" y="7318527"/>
            <a:ext cx="1477765" cy="1097603"/>
          </a:xfrm>
          <a:prstGeom prst="line">
            <a:avLst/>
          </a:prstGeom>
          <a:ln w="38100" cap="flat">
            <a:solidFill>
              <a:srgbClr val="0075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3749747" y="2294008"/>
            <a:ext cx="10788506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b="1">
                <a:solidFill>
                  <a:srgbClr val="0075A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 of September 14, 2026 through the April 2027 primary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79351" y="3275871"/>
            <a:ext cx="5887313" cy="1409746"/>
            <a:chOff x="0" y="0"/>
            <a:chExt cx="7849750" cy="1879661"/>
          </a:xfrm>
        </p:grpSpPr>
        <p:sp>
          <p:nvSpPr>
            <p:cNvPr id="31" name="TextBox 31"/>
            <p:cNvSpPr txBox="1"/>
            <p:nvPr/>
          </p:nvSpPr>
          <p:spPr>
            <a:xfrm>
              <a:off x="2272546" y="-9525"/>
              <a:ext cx="5577204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294"/>
                </a:lnSpc>
              </a:pPr>
              <a:r>
                <a:rPr lang="en-US" sz="2700" b="1">
                  <a:solidFill>
                    <a:srgbClr val="D6AE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Week of Sept. 14, 2026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1064109"/>
              <a:ext cx="7849750" cy="8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40"/>
                </a:lnSpc>
              </a:pPr>
              <a:r>
                <a:rPr lang="en-US" sz="2000">
                  <a:solidFill>
                    <a:srgbClr val="06030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Revamp website; capture Kenda’s voice; install tracking; deliver Greater KC sentiment baseline.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72546" y="533183"/>
              <a:ext cx="5577204" cy="471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05"/>
                </a:lnSpc>
              </a:pPr>
              <a:r>
                <a:rPr lang="en-US" sz="2299" b="1">
                  <a:solidFill>
                    <a:srgbClr val="0075A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Launch &amp; Foundation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3952" y="5492721"/>
            <a:ext cx="6862711" cy="1409746"/>
            <a:chOff x="0" y="0"/>
            <a:chExt cx="9150282" cy="1879661"/>
          </a:xfrm>
        </p:grpSpPr>
        <p:sp>
          <p:nvSpPr>
            <p:cNvPr id="35" name="TextBox 35"/>
            <p:cNvSpPr txBox="1"/>
            <p:nvPr/>
          </p:nvSpPr>
          <p:spPr>
            <a:xfrm>
              <a:off x="3573078" y="-9525"/>
              <a:ext cx="5577204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294"/>
                </a:lnSpc>
              </a:pPr>
              <a:r>
                <a:rPr lang="en-US" sz="2700" b="1">
                  <a:solidFill>
                    <a:srgbClr val="D6AE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Ongoing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064109"/>
              <a:ext cx="9150282" cy="8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440"/>
                </a:lnSpc>
              </a:pPr>
              <a:r>
                <a:rPr lang="en-US" sz="2000">
                  <a:solidFill>
                    <a:srgbClr val="06030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Daily social posting; up to 250,000 strategic TargetText messages; ringless voicemail; AI video iteration.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3078" y="533183"/>
              <a:ext cx="5577204" cy="471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05"/>
                </a:lnSpc>
              </a:pPr>
              <a:r>
                <a:rPr lang="en-US" sz="2299" b="1">
                  <a:solidFill>
                    <a:srgbClr val="0075A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Content Engine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672838" y="7702567"/>
            <a:ext cx="4693826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2700" b="1">
                <a:solidFill>
                  <a:srgbClr val="D6AE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Through April 2027 Primary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5204" y="8541425"/>
            <a:ext cx="6421460" cy="6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40"/>
              </a:lnSpc>
            </a:pPr>
            <a:r>
              <a:rPr lang="en-US" sz="20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Dashboards, rapid response, best-time-to-send text pushes, turnout reminders, message optimization.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83761" y="8128167"/>
            <a:ext cx="4182903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5"/>
              </a:lnSpc>
            </a:pPr>
            <a:r>
              <a:rPr lang="en-US" sz="2299" b="1">
                <a:solidFill>
                  <a:srgbClr val="0075A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GOTV &amp; Rapid Response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920631" y="4321449"/>
            <a:ext cx="6467907" cy="1410358"/>
            <a:chOff x="0" y="0"/>
            <a:chExt cx="8623876" cy="1880477"/>
          </a:xfrm>
        </p:grpSpPr>
        <p:sp>
          <p:nvSpPr>
            <p:cNvPr id="42" name="TextBox 42"/>
            <p:cNvSpPr txBox="1"/>
            <p:nvPr/>
          </p:nvSpPr>
          <p:spPr>
            <a:xfrm>
              <a:off x="0" y="-9525"/>
              <a:ext cx="5577204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4"/>
                </a:lnSpc>
              </a:pPr>
              <a:r>
                <a:rPr lang="en-US" sz="2700" b="1">
                  <a:solidFill>
                    <a:srgbClr val="D6AE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Oct.–Dec. 2026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1064926"/>
              <a:ext cx="8623876" cy="8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40"/>
                </a:lnSpc>
              </a:pPr>
              <a:r>
                <a:rPr lang="en-US" sz="2000">
                  <a:solidFill>
                    <a:srgbClr val="06030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Zip-code and generational message sets; brand-building content; continuous sentiment refinement.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565531"/>
              <a:ext cx="5577204" cy="471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sz="2299" b="1">
                  <a:solidFill>
                    <a:srgbClr val="0075A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Message Build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920631" y="6581899"/>
            <a:ext cx="5887313" cy="1410358"/>
            <a:chOff x="0" y="0"/>
            <a:chExt cx="7849750" cy="1880477"/>
          </a:xfrm>
        </p:grpSpPr>
        <p:sp>
          <p:nvSpPr>
            <p:cNvPr id="46" name="TextBox 46"/>
            <p:cNvSpPr txBox="1"/>
            <p:nvPr/>
          </p:nvSpPr>
          <p:spPr>
            <a:xfrm>
              <a:off x="0" y="-9525"/>
              <a:ext cx="5577204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4"/>
                </a:lnSpc>
              </a:pPr>
              <a:r>
                <a:rPr lang="en-US" sz="2700" b="1">
                  <a:solidFill>
                    <a:srgbClr val="D6AE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Jan.–Mar. 2027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1064926"/>
              <a:ext cx="7849750" cy="815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40"/>
                </a:lnSpc>
              </a:pPr>
              <a:r>
                <a:rPr lang="en-US" sz="2000">
                  <a:solidFill>
                    <a:srgbClr val="06030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Launch CTV/streaming ads across premium channels; optimize with closed-loop attribution.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565531"/>
              <a:ext cx="5577204" cy="471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sz="2299" b="1">
                  <a:solidFill>
                    <a:srgbClr val="0075A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Streaming Air War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88330" y="9816529"/>
            <a:ext cx="11264651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-54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sp>
        <p:nvSpPr>
          <p:cNvPr id="50" name="Freeform 50"/>
          <p:cNvSpPr/>
          <p:nvPr/>
        </p:nvSpPr>
        <p:spPr>
          <a:xfrm>
            <a:off x="15132773" y="378102"/>
            <a:ext cx="2442160" cy="2444197"/>
          </a:xfrm>
          <a:custGeom>
            <a:avLst/>
            <a:gdLst/>
            <a:ahLst/>
            <a:cxnLst/>
            <a:rect l="l" t="t" r="r" b="b"/>
            <a:pathLst>
              <a:path w="2442160" h="2444197">
                <a:moveTo>
                  <a:pt x="0" y="0"/>
                </a:moveTo>
                <a:lnTo>
                  <a:pt x="2442161" y="0"/>
                </a:lnTo>
                <a:lnTo>
                  <a:pt x="2442161" y="2444196"/>
                </a:lnTo>
                <a:lnTo>
                  <a:pt x="0" y="2444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4864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673199" y="1674152"/>
            <a:ext cx="741434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5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Investment &amp; Payment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73199" y="2432342"/>
            <a:ext cx="6259673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7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Primary campaign deliverables only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195133"/>
            <a:ext cx="16230600" cy="4063167"/>
            <a:chOff x="0" y="0"/>
            <a:chExt cx="21640800" cy="541755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538897" cy="2845408"/>
              <a:chOff x="0" y="0"/>
              <a:chExt cx="2081757" cy="56205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81757" cy="562056"/>
              </a:xfrm>
              <a:custGeom>
                <a:avLst/>
                <a:gdLst/>
                <a:ahLst/>
                <a:cxnLst/>
                <a:rect l="l" t="t" r="r" b="b"/>
                <a:pathLst>
                  <a:path w="2081757" h="562056">
                    <a:moveTo>
                      <a:pt x="28405" y="0"/>
                    </a:moveTo>
                    <a:lnTo>
                      <a:pt x="2053353" y="0"/>
                    </a:lnTo>
                    <a:cubicBezTo>
                      <a:pt x="2069040" y="0"/>
                      <a:pt x="2081757" y="12717"/>
                      <a:pt x="2081757" y="28405"/>
                    </a:cubicBezTo>
                    <a:lnTo>
                      <a:pt x="2081757" y="533651"/>
                    </a:lnTo>
                    <a:cubicBezTo>
                      <a:pt x="2081757" y="541185"/>
                      <a:pt x="2078765" y="548410"/>
                      <a:pt x="2073438" y="553736"/>
                    </a:cubicBezTo>
                    <a:cubicBezTo>
                      <a:pt x="2068111" y="559063"/>
                      <a:pt x="2060886" y="562056"/>
                      <a:pt x="2053353" y="562056"/>
                    </a:cubicBezTo>
                    <a:lnTo>
                      <a:pt x="28405" y="562056"/>
                    </a:lnTo>
                    <a:cubicBezTo>
                      <a:pt x="20871" y="562056"/>
                      <a:pt x="13646" y="559063"/>
                      <a:pt x="8320" y="553736"/>
                    </a:cubicBezTo>
                    <a:cubicBezTo>
                      <a:pt x="2993" y="548410"/>
                      <a:pt x="0" y="541185"/>
                      <a:pt x="0" y="533651"/>
                    </a:cubicBezTo>
                    <a:lnTo>
                      <a:pt x="0" y="28405"/>
                    </a:lnTo>
                    <a:cubicBezTo>
                      <a:pt x="0" y="20871"/>
                      <a:pt x="2993" y="13646"/>
                      <a:pt x="8320" y="8320"/>
                    </a:cubicBezTo>
                    <a:cubicBezTo>
                      <a:pt x="13646" y="2993"/>
                      <a:pt x="20871" y="0"/>
                      <a:pt x="28405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57150"/>
                <a:ext cx="2081757" cy="5049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570693" y="429717"/>
              <a:ext cx="7397511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Payment 1 — 50%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1458" y="1263567"/>
              <a:ext cx="9295980" cy="52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$38,327 due upon proposal acceptance.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1101903" y="0"/>
              <a:ext cx="10538897" cy="2845408"/>
              <a:chOff x="0" y="0"/>
              <a:chExt cx="2081757" cy="56205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081757" cy="562056"/>
              </a:xfrm>
              <a:custGeom>
                <a:avLst/>
                <a:gdLst/>
                <a:ahLst/>
                <a:cxnLst/>
                <a:rect l="l" t="t" r="r" b="b"/>
                <a:pathLst>
                  <a:path w="2081757" h="562056">
                    <a:moveTo>
                      <a:pt x="28405" y="0"/>
                    </a:moveTo>
                    <a:lnTo>
                      <a:pt x="2053353" y="0"/>
                    </a:lnTo>
                    <a:cubicBezTo>
                      <a:pt x="2069040" y="0"/>
                      <a:pt x="2081757" y="12717"/>
                      <a:pt x="2081757" y="28405"/>
                    </a:cubicBezTo>
                    <a:lnTo>
                      <a:pt x="2081757" y="533651"/>
                    </a:lnTo>
                    <a:cubicBezTo>
                      <a:pt x="2081757" y="541185"/>
                      <a:pt x="2078765" y="548410"/>
                      <a:pt x="2073438" y="553736"/>
                    </a:cubicBezTo>
                    <a:cubicBezTo>
                      <a:pt x="2068111" y="559063"/>
                      <a:pt x="2060886" y="562056"/>
                      <a:pt x="2053353" y="562056"/>
                    </a:cubicBezTo>
                    <a:lnTo>
                      <a:pt x="28405" y="562056"/>
                    </a:lnTo>
                    <a:cubicBezTo>
                      <a:pt x="20871" y="562056"/>
                      <a:pt x="13646" y="559063"/>
                      <a:pt x="8320" y="553736"/>
                    </a:cubicBezTo>
                    <a:cubicBezTo>
                      <a:pt x="2993" y="548410"/>
                      <a:pt x="0" y="541185"/>
                      <a:pt x="0" y="533651"/>
                    </a:cubicBezTo>
                    <a:lnTo>
                      <a:pt x="0" y="28405"/>
                    </a:lnTo>
                    <a:cubicBezTo>
                      <a:pt x="0" y="20871"/>
                      <a:pt x="2993" y="13646"/>
                      <a:pt x="8320" y="8320"/>
                    </a:cubicBezTo>
                    <a:cubicBezTo>
                      <a:pt x="13646" y="2993"/>
                      <a:pt x="20871" y="0"/>
                      <a:pt x="28405" y="0"/>
                    </a:cubicBezTo>
                    <a:close/>
                  </a:path>
                </a:pathLst>
              </a:custGeom>
              <a:solidFill>
                <a:srgbClr val="D6AE5E"/>
              </a:solidFill>
              <a:ln w="38100" cap="rnd">
                <a:solidFill>
                  <a:srgbClr val="07509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57150"/>
                <a:ext cx="2081757" cy="5049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2672596" y="429717"/>
              <a:ext cx="7397511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07509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Payment 2 — 50%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42919" y="1263567"/>
              <a:ext cx="8856867" cy="1118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9"/>
                </a:lnSpc>
              </a:pPr>
              <a:r>
                <a:rPr lang="en-US" sz="22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$38,327 due upon completion of ads and video commercials.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571944" y="3201008"/>
              <a:ext cx="18496912" cy="2216548"/>
              <a:chOff x="0" y="0"/>
              <a:chExt cx="3653711" cy="43783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653711" cy="437837"/>
              </a:xfrm>
              <a:custGeom>
                <a:avLst/>
                <a:gdLst/>
                <a:ahLst/>
                <a:cxnLst/>
                <a:rect l="l" t="t" r="r" b="b"/>
                <a:pathLst>
                  <a:path w="3653711" h="437837">
                    <a:moveTo>
                      <a:pt x="16184" y="0"/>
                    </a:moveTo>
                    <a:lnTo>
                      <a:pt x="3637527" y="0"/>
                    </a:lnTo>
                    <a:cubicBezTo>
                      <a:pt x="3646465" y="0"/>
                      <a:pt x="3653711" y="7246"/>
                      <a:pt x="3653711" y="16184"/>
                    </a:cubicBezTo>
                    <a:lnTo>
                      <a:pt x="3653711" y="421653"/>
                    </a:lnTo>
                    <a:cubicBezTo>
                      <a:pt x="3653711" y="425945"/>
                      <a:pt x="3652006" y="430061"/>
                      <a:pt x="3648971" y="433096"/>
                    </a:cubicBezTo>
                    <a:cubicBezTo>
                      <a:pt x="3645936" y="436131"/>
                      <a:pt x="3641819" y="437837"/>
                      <a:pt x="3637527" y="437837"/>
                    </a:cubicBezTo>
                    <a:lnTo>
                      <a:pt x="16184" y="437837"/>
                    </a:lnTo>
                    <a:cubicBezTo>
                      <a:pt x="7246" y="437837"/>
                      <a:pt x="0" y="430591"/>
                      <a:pt x="0" y="421653"/>
                    </a:cubicBezTo>
                    <a:lnTo>
                      <a:pt x="0" y="16184"/>
                    </a:lnTo>
                    <a:cubicBezTo>
                      <a:pt x="0" y="7246"/>
                      <a:pt x="7246" y="0"/>
                      <a:pt x="16184" y="0"/>
                    </a:cubicBezTo>
                    <a:close/>
                  </a:path>
                </a:pathLst>
              </a:custGeom>
              <a:solidFill>
                <a:srgbClr val="075092"/>
              </a:solidFill>
              <a:ln w="38100" cap="rnd">
                <a:solidFill>
                  <a:srgbClr val="D6AE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57150"/>
                <a:ext cx="3653711" cy="3806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46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567029" y="3496283"/>
              <a:ext cx="12506742" cy="546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4"/>
                </a:lnSpc>
              </a:pPr>
              <a:r>
                <a:rPr lang="en-US" sz="27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Payments made payable to JPP Consulting, LLC.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56878" y="4185470"/>
              <a:ext cx="11727044" cy="955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4"/>
                </a:lnSpc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Money is a tool for messaging — every dollar goes toward reaching voters where they live, scroll, stream, and gather.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245845" y="9858375"/>
            <a:ext cx="13796310" cy="26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 | Primary Campaign Deliverables Only |Prepared by JPP Consulting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452710" y="1531277"/>
            <a:ext cx="1613180" cy="1614525"/>
          </a:xfrm>
          <a:custGeom>
            <a:avLst/>
            <a:gdLst/>
            <a:ahLst/>
            <a:cxnLst/>
            <a:rect l="l" t="t" r="r" b="b"/>
            <a:pathLst>
              <a:path w="1613180" h="1614525">
                <a:moveTo>
                  <a:pt x="0" y="0"/>
                </a:moveTo>
                <a:lnTo>
                  <a:pt x="1613180" y="0"/>
                </a:lnTo>
                <a:lnTo>
                  <a:pt x="1613180" y="1614525"/>
                </a:lnTo>
                <a:lnTo>
                  <a:pt x="0" y="1614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436829" y="3577787"/>
            <a:ext cx="7414342" cy="102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8000" b="1">
                <a:solidFill>
                  <a:srgbClr val="07509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$76,654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14163" y="4471233"/>
            <a:ext cx="6259673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b="1">
                <a:solidFill>
                  <a:srgbClr val="06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Proposal Cost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39840"/>
            <a:ext cx="18288000" cy="3947160"/>
          </a:xfrm>
          <a:custGeom>
            <a:avLst/>
            <a:gdLst/>
            <a:ahLst/>
            <a:cxnLst/>
            <a:rect l="l" t="t" r="r" b="b"/>
            <a:pathLst>
              <a:path w="18288000" h="3947160">
                <a:moveTo>
                  <a:pt x="0" y="0"/>
                </a:moveTo>
                <a:lnTo>
                  <a:pt x="18288000" y="0"/>
                </a:lnTo>
                <a:lnTo>
                  <a:pt x="18288000" y="3947160"/>
                </a:lnTo>
                <a:lnTo>
                  <a:pt x="0" y="394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68365" y="1198084"/>
            <a:ext cx="13551268" cy="75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10000" b="1" dirty="0">
                <a:solidFill>
                  <a:srgbClr val="D6AE5E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Why This Wins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6900" y="1950788"/>
            <a:ext cx="14854198" cy="41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dirty="0">
                <a:solidFill>
                  <a:srgbClr val="075092"/>
                </a:solidFill>
                <a:latin typeface="Canva Sans"/>
                <a:ea typeface="Canva Sans"/>
                <a:cs typeface="Canva Sans"/>
                <a:sym typeface="Canva Sans"/>
              </a:rPr>
              <a:t>A disciplined primary campaign built for speed, trust, and measurable voter contact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1083" y="7098684"/>
            <a:ext cx="9145832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600" b="1" spc="-107" dirty="0">
                <a:solidFill>
                  <a:srgbClr val="D6AE5E"/>
                </a:solidFill>
                <a:latin typeface="DIN Condensed" pitchFamily="2" charset="0"/>
                <a:ea typeface="Bebas Neue Bold"/>
                <a:cs typeface="Aharoni" panose="02010803020104030203" pitchFamily="2" charset="-79"/>
                <a:sym typeface="Bebas Neue Bold"/>
              </a:rPr>
              <a:t>This is the campaign that advances Kenda Tomes McClain through the</a:t>
            </a:r>
            <a:r>
              <a:rPr lang="en-US" sz="3600" b="1" spc="-107" dirty="0">
                <a:solidFill>
                  <a:srgbClr val="23467A"/>
                </a:solidFill>
                <a:latin typeface="DIN Condensed" pitchFamily="2" charset="0"/>
                <a:ea typeface="Bebas Neue Bold"/>
                <a:cs typeface="Aharoni" panose="02010803020104030203" pitchFamily="2" charset="-79"/>
                <a:sym typeface="Bebas Neue Bold"/>
              </a:rPr>
              <a:t> April 2027 primary and toward the office of Mayor of Kansas City.</a:t>
            </a:r>
          </a:p>
        </p:txBody>
      </p:sp>
      <p:sp>
        <p:nvSpPr>
          <p:cNvPr id="6" name="Freeform 6"/>
          <p:cNvSpPr/>
          <p:nvPr/>
        </p:nvSpPr>
        <p:spPr>
          <a:xfrm>
            <a:off x="16072644" y="181439"/>
            <a:ext cx="1841113" cy="1842649"/>
          </a:xfrm>
          <a:custGeom>
            <a:avLst/>
            <a:gdLst/>
            <a:ahLst/>
            <a:cxnLst/>
            <a:rect l="l" t="t" r="r" b="b"/>
            <a:pathLst>
              <a:path w="1841113" h="1842649">
                <a:moveTo>
                  <a:pt x="0" y="0"/>
                </a:moveTo>
                <a:lnTo>
                  <a:pt x="1841114" y="0"/>
                </a:lnTo>
                <a:lnTo>
                  <a:pt x="1841114" y="1842649"/>
                </a:lnTo>
                <a:lnTo>
                  <a:pt x="0" y="1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15734" y="2811961"/>
            <a:ext cx="1625653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Kenda owns the fiscal-credibility and accountability lane in a city hungry for disciplined leadership.</a:t>
            </a: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The revamped website becomes the brand hub; brand-building starts immediately after launch across every channel.</a:t>
            </a: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 sentiment baseline on all three pillars keeps the campaign grounded in what Greater Kansas City actually thinks.</a:t>
            </a: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Up to 250,000 strategic text messages are sent by segment, sentiment signal, and best time to send.</a:t>
            </a: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AI-generated commercials keep the campaign fast, responsive, and always on-message.</a:t>
            </a:r>
          </a:p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Zip-code-level data plus generational targeting reaches the exact voters who decide a top-two primary.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1155414"/>
            <a:ext cx="6879719" cy="9131586"/>
          </a:xfrm>
          <a:custGeom>
            <a:avLst/>
            <a:gdLst/>
            <a:ahLst/>
            <a:cxnLst/>
            <a:rect l="l" t="t" r="r" b="b"/>
            <a:pathLst>
              <a:path w="6879719" h="9131586">
                <a:moveTo>
                  <a:pt x="6879719" y="0"/>
                </a:moveTo>
                <a:lnTo>
                  <a:pt x="0" y="0"/>
                </a:lnTo>
                <a:lnTo>
                  <a:pt x="0" y="9131586"/>
                </a:lnTo>
                <a:lnTo>
                  <a:pt x="6879719" y="9131586"/>
                </a:lnTo>
                <a:lnTo>
                  <a:pt x="687971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3888916" y="0"/>
            <a:ext cx="14399084" cy="10287000"/>
          </a:xfrm>
          <a:custGeom>
            <a:avLst/>
            <a:gdLst/>
            <a:ahLst/>
            <a:cxnLst/>
            <a:rect l="l" t="t" r="r" b="b"/>
            <a:pathLst>
              <a:path w="14399084" h="11093294">
                <a:moveTo>
                  <a:pt x="14399084" y="0"/>
                </a:moveTo>
                <a:lnTo>
                  <a:pt x="0" y="0"/>
                </a:lnTo>
                <a:lnTo>
                  <a:pt x="0" y="11093294"/>
                </a:lnTo>
                <a:lnTo>
                  <a:pt x="14399084" y="11093294"/>
                </a:lnTo>
                <a:lnTo>
                  <a:pt x="143990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7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0" y="8453774"/>
            <a:ext cx="4052668" cy="1833226"/>
          </a:xfrm>
          <a:custGeom>
            <a:avLst/>
            <a:gdLst/>
            <a:ahLst/>
            <a:cxnLst/>
            <a:rect l="l" t="t" r="r" b="b"/>
            <a:pathLst>
              <a:path w="4052668" h="4114800">
                <a:moveTo>
                  <a:pt x="4052668" y="0"/>
                </a:moveTo>
                <a:lnTo>
                  <a:pt x="0" y="0"/>
                </a:lnTo>
                <a:lnTo>
                  <a:pt x="0" y="4114800"/>
                </a:lnTo>
                <a:lnTo>
                  <a:pt x="4052668" y="4114800"/>
                </a:lnTo>
                <a:lnTo>
                  <a:pt x="40526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012" b="-1244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544330" y="4926797"/>
            <a:ext cx="8488330" cy="55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36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Prepared for Kenda Tomes McClain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6229" y="5538390"/>
            <a:ext cx="8219400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3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Campaign Strategy, Service Delivery Timeline &amp; Proposal</a:t>
            </a:r>
          </a:p>
        </p:txBody>
      </p:sp>
      <p:sp>
        <p:nvSpPr>
          <p:cNvPr id="7" name="Freeform 7"/>
          <p:cNvSpPr/>
          <p:nvPr/>
        </p:nvSpPr>
        <p:spPr>
          <a:xfrm>
            <a:off x="5082573" y="521278"/>
            <a:ext cx="2435033" cy="2437064"/>
          </a:xfrm>
          <a:custGeom>
            <a:avLst/>
            <a:gdLst/>
            <a:ahLst/>
            <a:cxnLst/>
            <a:rect l="l" t="t" r="r" b="b"/>
            <a:pathLst>
              <a:path w="2435033" h="2437064">
                <a:moveTo>
                  <a:pt x="0" y="0"/>
                </a:moveTo>
                <a:lnTo>
                  <a:pt x="2435033" y="0"/>
                </a:lnTo>
                <a:lnTo>
                  <a:pt x="2435033" y="2437064"/>
                </a:lnTo>
                <a:lnTo>
                  <a:pt x="0" y="2437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071742" y="6409231"/>
            <a:ext cx="7108372" cy="55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36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Prepared by JPP Consulting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92473" y="7046366"/>
            <a:ext cx="10866911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300" spc="-96" dirty="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AI-Based Political Consulting &amp; Social Sentiment-Driven Campaign Deliverables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12462" y="8163828"/>
            <a:ext cx="8826931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6"/>
              </a:lnSpc>
            </a:pPr>
            <a:r>
              <a:rPr lang="en-US" sz="3600" b="1" dirty="0">
                <a:solidFill>
                  <a:srgbClr val="075092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Payments made payable to JPP Consulting, LLC.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3239" y="8699017"/>
            <a:ext cx="6245379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3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kendatomesmcclain4kc.com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7606" y="9675583"/>
            <a:ext cx="10541778" cy="3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300">
                <a:solidFill>
                  <a:srgbClr val="060303"/>
                </a:solidFill>
                <a:latin typeface="Canva Sans"/>
                <a:ea typeface="Canva Sans"/>
                <a:cs typeface="Canva Sans"/>
                <a:sym typeface="Canva Sans"/>
              </a:rPr>
              <a:t>Primary Campaign Deliverables Only — Nonpartisan Primary, April 2027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2624" y="2991870"/>
            <a:ext cx="6026610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5"/>
              </a:lnSpc>
            </a:pPr>
            <a:r>
              <a:rPr lang="en-US" sz="10000" b="1" dirty="0">
                <a:solidFill>
                  <a:srgbClr val="D6AE5E"/>
                </a:solidFill>
                <a:latin typeface="Bernard MT Condensed" panose="02050806060905020404" pitchFamily="18" charset="77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1722</Words>
  <Application>Microsoft Macintosh PowerPoint</Application>
  <PresentationFormat>Custom</PresentationFormat>
  <Paragraphs>198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Bebas Neue</vt:lpstr>
      <vt:lpstr>DIN Condensed</vt:lpstr>
      <vt:lpstr>Bernard MT Condensed</vt:lpstr>
      <vt:lpstr>Calibri</vt:lpstr>
      <vt:lpstr>Canva Sans</vt:lpstr>
      <vt:lpstr>Aptos</vt:lpstr>
      <vt:lpstr>Arial</vt:lpstr>
      <vt:lpstr>Canva Sans Bold</vt:lpstr>
      <vt:lpstr>Bebas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KENDA TOMES McCLAIN</dc:title>
  <cp:lastModifiedBy>Riza Artizuela</cp:lastModifiedBy>
  <cp:revision>6</cp:revision>
  <dcterms:created xsi:type="dcterms:W3CDTF">2006-08-16T00:00:00Z</dcterms:created>
  <dcterms:modified xsi:type="dcterms:W3CDTF">2026-09-12T16:27:41Z</dcterms:modified>
  <dc:identifier>DAHU5ywXuBI</dc:identifier>
</cp:coreProperties>
</file>